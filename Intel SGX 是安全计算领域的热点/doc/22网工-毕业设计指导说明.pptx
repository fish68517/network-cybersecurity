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1" r:id="rId4"/>
    <p:sldId id="262" r:id="rId5"/>
    <p:sldId id="267" r:id="rId6"/>
    <p:sldId id="272" r:id="rId7"/>
    <p:sldId id="263" r:id="rId8"/>
    <p:sldId id="273" r:id="rId9"/>
    <p:sldId id="264" r:id="rId10"/>
    <p:sldId id="271" r:id="rId11"/>
    <p:sldId id="265" r:id="rId12"/>
    <p:sldId id="266" r:id="rId13"/>
    <p:sldId id="274" r:id="rId14"/>
    <p:sldId id="268" r:id="rId15"/>
    <p:sldId id="275" r:id="rId16"/>
    <p:sldId id="269" r:id="rId17"/>
    <p:sldId id="270"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721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562" y="67"/>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8F2EBE-5073-A736-19A9-C543FAFC17E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6ADDF58-1375-1CF1-DBD3-EC4C0BE9CE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249C746-0F60-6AD8-460A-AAF9EEC3B5AC}"/>
              </a:ext>
            </a:extLst>
          </p:cNvPr>
          <p:cNvSpPr>
            <a:spLocks noGrp="1"/>
          </p:cNvSpPr>
          <p:nvPr>
            <p:ph type="dt" sz="half" idx="10"/>
          </p:nvPr>
        </p:nvSpPr>
        <p:spPr/>
        <p:txBody>
          <a:bodyPr/>
          <a:lstStyle/>
          <a:p>
            <a:fld id="{E2A62085-692B-4641-ACBE-BD8BFAECB296}" type="datetimeFigureOut">
              <a:rPr lang="zh-CN" altLang="en-US" smtClean="0"/>
              <a:t>2025/11/17</a:t>
            </a:fld>
            <a:endParaRPr lang="zh-CN" altLang="en-US"/>
          </a:p>
        </p:txBody>
      </p:sp>
      <p:sp>
        <p:nvSpPr>
          <p:cNvPr id="5" name="页脚占位符 4">
            <a:extLst>
              <a:ext uri="{FF2B5EF4-FFF2-40B4-BE49-F238E27FC236}">
                <a16:creationId xmlns:a16="http://schemas.microsoft.com/office/drawing/2014/main" id="{8D288EA3-0617-844E-E33A-4FF389A6D9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A9A1AA-21A8-D53A-90C7-CEE373147F7F}"/>
              </a:ext>
            </a:extLst>
          </p:cNvPr>
          <p:cNvSpPr>
            <a:spLocks noGrp="1"/>
          </p:cNvSpPr>
          <p:nvPr>
            <p:ph type="sldNum" sz="quarter" idx="12"/>
          </p:nvPr>
        </p:nvSpPr>
        <p:spPr/>
        <p:txBody>
          <a:bodyPr/>
          <a:lstStyle/>
          <a:p>
            <a:fld id="{4CF21294-3A13-454C-99DD-AC90F64DC710}" type="slidenum">
              <a:rPr lang="zh-CN" altLang="en-US" smtClean="0"/>
              <a:t>‹#›</a:t>
            </a:fld>
            <a:endParaRPr lang="zh-CN" altLang="en-US"/>
          </a:p>
        </p:txBody>
      </p:sp>
    </p:spTree>
    <p:extLst>
      <p:ext uri="{BB962C8B-B14F-4D97-AF65-F5344CB8AC3E}">
        <p14:creationId xmlns:p14="http://schemas.microsoft.com/office/powerpoint/2010/main" val="2531949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DCCEC8-EC20-85BE-9A29-A4CAC36A645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FF8D3D4-500B-7789-5BEB-7F6534B55C2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D4AB644-AC18-F267-1ADF-527F9CDFF2C4}"/>
              </a:ext>
            </a:extLst>
          </p:cNvPr>
          <p:cNvSpPr>
            <a:spLocks noGrp="1"/>
          </p:cNvSpPr>
          <p:nvPr>
            <p:ph type="dt" sz="half" idx="10"/>
          </p:nvPr>
        </p:nvSpPr>
        <p:spPr/>
        <p:txBody>
          <a:bodyPr/>
          <a:lstStyle/>
          <a:p>
            <a:fld id="{E2A62085-692B-4641-ACBE-BD8BFAECB296}" type="datetimeFigureOut">
              <a:rPr lang="zh-CN" altLang="en-US" smtClean="0"/>
              <a:t>2025/11/17</a:t>
            </a:fld>
            <a:endParaRPr lang="zh-CN" altLang="en-US"/>
          </a:p>
        </p:txBody>
      </p:sp>
      <p:sp>
        <p:nvSpPr>
          <p:cNvPr id="5" name="页脚占位符 4">
            <a:extLst>
              <a:ext uri="{FF2B5EF4-FFF2-40B4-BE49-F238E27FC236}">
                <a16:creationId xmlns:a16="http://schemas.microsoft.com/office/drawing/2014/main" id="{045E8149-09AE-6C80-BC7A-0A11D75B2B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B3831BF-C5F1-AF39-5395-67299703BF12}"/>
              </a:ext>
            </a:extLst>
          </p:cNvPr>
          <p:cNvSpPr>
            <a:spLocks noGrp="1"/>
          </p:cNvSpPr>
          <p:nvPr>
            <p:ph type="sldNum" sz="quarter" idx="12"/>
          </p:nvPr>
        </p:nvSpPr>
        <p:spPr/>
        <p:txBody>
          <a:bodyPr/>
          <a:lstStyle/>
          <a:p>
            <a:fld id="{4CF21294-3A13-454C-99DD-AC90F64DC710}" type="slidenum">
              <a:rPr lang="zh-CN" altLang="en-US" smtClean="0"/>
              <a:t>‹#›</a:t>
            </a:fld>
            <a:endParaRPr lang="zh-CN" altLang="en-US"/>
          </a:p>
        </p:txBody>
      </p:sp>
    </p:spTree>
    <p:extLst>
      <p:ext uri="{BB962C8B-B14F-4D97-AF65-F5344CB8AC3E}">
        <p14:creationId xmlns:p14="http://schemas.microsoft.com/office/powerpoint/2010/main" val="2623532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2AD7F3-C4DC-BDE5-721D-FEA6DE18E88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44E3CFD-4787-30D2-1384-509E18A40CD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75AEEA7-C3ED-6BB9-BEDB-8697E78C68F9}"/>
              </a:ext>
            </a:extLst>
          </p:cNvPr>
          <p:cNvSpPr>
            <a:spLocks noGrp="1"/>
          </p:cNvSpPr>
          <p:nvPr>
            <p:ph type="dt" sz="half" idx="10"/>
          </p:nvPr>
        </p:nvSpPr>
        <p:spPr/>
        <p:txBody>
          <a:bodyPr/>
          <a:lstStyle/>
          <a:p>
            <a:fld id="{E2A62085-692B-4641-ACBE-BD8BFAECB296}" type="datetimeFigureOut">
              <a:rPr lang="zh-CN" altLang="en-US" smtClean="0"/>
              <a:t>2025/11/17</a:t>
            </a:fld>
            <a:endParaRPr lang="zh-CN" altLang="en-US"/>
          </a:p>
        </p:txBody>
      </p:sp>
      <p:sp>
        <p:nvSpPr>
          <p:cNvPr id="5" name="页脚占位符 4">
            <a:extLst>
              <a:ext uri="{FF2B5EF4-FFF2-40B4-BE49-F238E27FC236}">
                <a16:creationId xmlns:a16="http://schemas.microsoft.com/office/drawing/2014/main" id="{8D3ACE13-842E-F895-4558-67EEAEDA3B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C64F45F-307E-4173-AD7F-4274BB4B4265}"/>
              </a:ext>
            </a:extLst>
          </p:cNvPr>
          <p:cNvSpPr>
            <a:spLocks noGrp="1"/>
          </p:cNvSpPr>
          <p:nvPr>
            <p:ph type="sldNum" sz="quarter" idx="12"/>
          </p:nvPr>
        </p:nvSpPr>
        <p:spPr/>
        <p:txBody>
          <a:bodyPr/>
          <a:lstStyle/>
          <a:p>
            <a:fld id="{4CF21294-3A13-454C-99DD-AC90F64DC710}" type="slidenum">
              <a:rPr lang="zh-CN" altLang="en-US" smtClean="0"/>
              <a:t>‹#›</a:t>
            </a:fld>
            <a:endParaRPr lang="zh-CN" altLang="en-US"/>
          </a:p>
        </p:txBody>
      </p:sp>
    </p:spTree>
    <p:extLst>
      <p:ext uri="{BB962C8B-B14F-4D97-AF65-F5344CB8AC3E}">
        <p14:creationId xmlns:p14="http://schemas.microsoft.com/office/powerpoint/2010/main" val="446225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C388D7-94A4-4F9B-595A-169258CF4A0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BA083D7-12BA-F428-D422-2B2A88AE50C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D0DD852-4D09-35D7-9EB4-95352BF91D8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A1C87D4-C1F3-B49F-04A0-44DEA9FFD02F}"/>
              </a:ext>
            </a:extLst>
          </p:cNvPr>
          <p:cNvSpPr>
            <a:spLocks noGrp="1"/>
          </p:cNvSpPr>
          <p:nvPr>
            <p:ph type="dt" sz="half" idx="10"/>
          </p:nvPr>
        </p:nvSpPr>
        <p:spPr/>
        <p:txBody>
          <a:bodyPr/>
          <a:lstStyle/>
          <a:p>
            <a:fld id="{E2A62085-692B-4641-ACBE-BD8BFAECB296}" type="datetimeFigureOut">
              <a:rPr lang="zh-CN" altLang="en-US" smtClean="0"/>
              <a:t>2025/11/17</a:t>
            </a:fld>
            <a:endParaRPr lang="zh-CN" altLang="en-US"/>
          </a:p>
        </p:txBody>
      </p:sp>
      <p:sp>
        <p:nvSpPr>
          <p:cNvPr id="6" name="页脚占位符 5">
            <a:extLst>
              <a:ext uri="{FF2B5EF4-FFF2-40B4-BE49-F238E27FC236}">
                <a16:creationId xmlns:a16="http://schemas.microsoft.com/office/drawing/2014/main" id="{4DD9A1EB-2417-287C-439E-47A5B5E1D19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0E4760C-A8CD-5122-6FA2-9D3AD25E60E0}"/>
              </a:ext>
            </a:extLst>
          </p:cNvPr>
          <p:cNvSpPr>
            <a:spLocks noGrp="1"/>
          </p:cNvSpPr>
          <p:nvPr>
            <p:ph type="sldNum" sz="quarter" idx="12"/>
          </p:nvPr>
        </p:nvSpPr>
        <p:spPr/>
        <p:txBody>
          <a:bodyPr/>
          <a:lstStyle/>
          <a:p>
            <a:fld id="{4CF21294-3A13-454C-99DD-AC90F64DC710}" type="slidenum">
              <a:rPr lang="zh-CN" altLang="en-US" smtClean="0"/>
              <a:t>‹#›</a:t>
            </a:fld>
            <a:endParaRPr lang="zh-CN" altLang="en-US"/>
          </a:p>
        </p:txBody>
      </p:sp>
    </p:spTree>
    <p:extLst>
      <p:ext uri="{BB962C8B-B14F-4D97-AF65-F5344CB8AC3E}">
        <p14:creationId xmlns:p14="http://schemas.microsoft.com/office/powerpoint/2010/main" val="1064307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D0021C-07D8-4813-1A81-7DC20AB9110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1E809C1-49F2-E6E3-16E3-79ECD38C5E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06994C0-7C31-059C-CF08-6E15DA8BBF5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254D88F-F65D-A1FA-CC22-C4AC3F5596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79263DA-34C6-E88F-FA65-7F40AECBF66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DB7F405-8B0E-4C19-D69C-765306945C1E}"/>
              </a:ext>
            </a:extLst>
          </p:cNvPr>
          <p:cNvSpPr>
            <a:spLocks noGrp="1"/>
          </p:cNvSpPr>
          <p:nvPr>
            <p:ph type="dt" sz="half" idx="10"/>
          </p:nvPr>
        </p:nvSpPr>
        <p:spPr/>
        <p:txBody>
          <a:bodyPr/>
          <a:lstStyle/>
          <a:p>
            <a:fld id="{E2A62085-692B-4641-ACBE-BD8BFAECB296}" type="datetimeFigureOut">
              <a:rPr lang="zh-CN" altLang="en-US" smtClean="0"/>
              <a:t>2025/11/17</a:t>
            </a:fld>
            <a:endParaRPr lang="zh-CN" altLang="en-US"/>
          </a:p>
        </p:txBody>
      </p:sp>
      <p:sp>
        <p:nvSpPr>
          <p:cNvPr id="8" name="页脚占位符 7">
            <a:extLst>
              <a:ext uri="{FF2B5EF4-FFF2-40B4-BE49-F238E27FC236}">
                <a16:creationId xmlns:a16="http://schemas.microsoft.com/office/drawing/2014/main" id="{FB156C5F-C46E-D90D-1C80-C9F26510C6E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454C226-239D-2E94-BB44-A3B6D657FC61}"/>
              </a:ext>
            </a:extLst>
          </p:cNvPr>
          <p:cNvSpPr>
            <a:spLocks noGrp="1"/>
          </p:cNvSpPr>
          <p:nvPr>
            <p:ph type="sldNum" sz="quarter" idx="12"/>
          </p:nvPr>
        </p:nvSpPr>
        <p:spPr/>
        <p:txBody>
          <a:bodyPr/>
          <a:lstStyle/>
          <a:p>
            <a:fld id="{4CF21294-3A13-454C-99DD-AC90F64DC710}" type="slidenum">
              <a:rPr lang="zh-CN" altLang="en-US" smtClean="0"/>
              <a:t>‹#›</a:t>
            </a:fld>
            <a:endParaRPr lang="zh-CN" altLang="en-US"/>
          </a:p>
        </p:txBody>
      </p:sp>
    </p:spTree>
    <p:extLst>
      <p:ext uri="{BB962C8B-B14F-4D97-AF65-F5344CB8AC3E}">
        <p14:creationId xmlns:p14="http://schemas.microsoft.com/office/powerpoint/2010/main" val="678032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EBD290-FB05-A29F-E77C-E80CA730E88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F5FCBE2-7E49-D488-E103-25C069B3D410}"/>
              </a:ext>
            </a:extLst>
          </p:cNvPr>
          <p:cNvSpPr>
            <a:spLocks noGrp="1"/>
          </p:cNvSpPr>
          <p:nvPr>
            <p:ph type="dt" sz="half" idx="10"/>
          </p:nvPr>
        </p:nvSpPr>
        <p:spPr/>
        <p:txBody>
          <a:bodyPr/>
          <a:lstStyle/>
          <a:p>
            <a:fld id="{E2A62085-692B-4641-ACBE-BD8BFAECB296}" type="datetimeFigureOut">
              <a:rPr lang="zh-CN" altLang="en-US" smtClean="0"/>
              <a:t>2025/11/17</a:t>
            </a:fld>
            <a:endParaRPr lang="zh-CN" altLang="en-US"/>
          </a:p>
        </p:txBody>
      </p:sp>
      <p:sp>
        <p:nvSpPr>
          <p:cNvPr id="4" name="页脚占位符 3">
            <a:extLst>
              <a:ext uri="{FF2B5EF4-FFF2-40B4-BE49-F238E27FC236}">
                <a16:creationId xmlns:a16="http://schemas.microsoft.com/office/drawing/2014/main" id="{35EBA007-68D7-7DB5-B0F8-BDEE1561598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85B44AC-B11F-19D3-EF72-09728E0415B8}"/>
              </a:ext>
            </a:extLst>
          </p:cNvPr>
          <p:cNvSpPr>
            <a:spLocks noGrp="1"/>
          </p:cNvSpPr>
          <p:nvPr>
            <p:ph type="sldNum" sz="quarter" idx="12"/>
          </p:nvPr>
        </p:nvSpPr>
        <p:spPr/>
        <p:txBody>
          <a:bodyPr/>
          <a:lstStyle/>
          <a:p>
            <a:fld id="{4CF21294-3A13-454C-99DD-AC90F64DC710}" type="slidenum">
              <a:rPr lang="zh-CN" altLang="en-US" smtClean="0"/>
              <a:t>‹#›</a:t>
            </a:fld>
            <a:endParaRPr lang="zh-CN" altLang="en-US"/>
          </a:p>
        </p:txBody>
      </p:sp>
    </p:spTree>
    <p:extLst>
      <p:ext uri="{BB962C8B-B14F-4D97-AF65-F5344CB8AC3E}">
        <p14:creationId xmlns:p14="http://schemas.microsoft.com/office/powerpoint/2010/main" val="3132491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CD4C36B-2677-0389-DB3F-1303EB37732A}"/>
              </a:ext>
            </a:extLst>
          </p:cNvPr>
          <p:cNvSpPr>
            <a:spLocks noGrp="1"/>
          </p:cNvSpPr>
          <p:nvPr>
            <p:ph type="dt" sz="half" idx="10"/>
          </p:nvPr>
        </p:nvSpPr>
        <p:spPr/>
        <p:txBody>
          <a:bodyPr/>
          <a:lstStyle/>
          <a:p>
            <a:fld id="{E2A62085-692B-4641-ACBE-BD8BFAECB296}" type="datetimeFigureOut">
              <a:rPr lang="zh-CN" altLang="en-US" smtClean="0"/>
              <a:t>2025/11/17</a:t>
            </a:fld>
            <a:endParaRPr lang="zh-CN" altLang="en-US"/>
          </a:p>
        </p:txBody>
      </p:sp>
      <p:sp>
        <p:nvSpPr>
          <p:cNvPr id="3" name="页脚占位符 2">
            <a:extLst>
              <a:ext uri="{FF2B5EF4-FFF2-40B4-BE49-F238E27FC236}">
                <a16:creationId xmlns:a16="http://schemas.microsoft.com/office/drawing/2014/main" id="{637F300C-074F-9301-8781-9D6C9B459D4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706362E-9FC4-3C89-C9A9-4EDE457D6296}"/>
              </a:ext>
            </a:extLst>
          </p:cNvPr>
          <p:cNvSpPr>
            <a:spLocks noGrp="1"/>
          </p:cNvSpPr>
          <p:nvPr>
            <p:ph type="sldNum" sz="quarter" idx="12"/>
          </p:nvPr>
        </p:nvSpPr>
        <p:spPr/>
        <p:txBody>
          <a:bodyPr/>
          <a:lstStyle/>
          <a:p>
            <a:fld id="{4CF21294-3A13-454C-99DD-AC90F64DC710}" type="slidenum">
              <a:rPr lang="zh-CN" altLang="en-US" smtClean="0"/>
              <a:t>‹#›</a:t>
            </a:fld>
            <a:endParaRPr lang="zh-CN" altLang="en-US"/>
          </a:p>
        </p:txBody>
      </p:sp>
    </p:spTree>
    <p:extLst>
      <p:ext uri="{BB962C8B-B14F-4D97-AF65-F5344CB8AC3E}">
        <p14:creationId xmlns:p14="http://schemas.microsoft.com/office/powerpoint/2010/main" val="454993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5C4537-FC69-B1CE-F3AB-8FCB4159579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F801A57-D7A0-9586-E669-2FCDF1A1B4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40C6C43-A685-AD7C-F0F9-AC2373EF15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6076295-2B20-64C8-311B-FBAB4D61D19F}"/>
              </a:ext>
            </a:extLst>
          </p:cNvPr>
          <p:cNvSpPr>
            <a:spLocks noGrp="1"/>
          </p:cNvSpPr>
          <p:nvPr>
            <p:ph type="dt" sz="half" idx="10"/>
          </p:nvPr>
        </p:nvSpPr>
        <p:spPr/>
        <p:txBody>
          <a:bodyPr/>
          <a:lstStyle/>
          <a:p>
            <a:fld id="{E2A62085-692B-4641-ACBE-BD8BFAECB296}" type="datetimeFigureOut">
              <a:rPr lang="zh-CN" altLang="en-US" smtClean="0"/>
              <a:t>2025/11/17</a:t>
            </a:fld>
            <a:endParaRPr lang="zh-CN" altLang="en-US"/>
          </a:p>
        </p:txBody>
      </p:sp>
      <p:sp>
        <p:nvSpPr>
          <p:cNvPr id="6" name="页脚占位符 5">
            <a:extLst>
              <a:ext uri="{FF2B5EF4-FFF2-40B4-BE49-F238E27FC236}">
                <a16:creationId xmlns:a16="http://schemas.microsoft.com/office/drawing/2014/main" id="{B21EC83A-C7EC-9314-AB27-F71050EC490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43BD553-FE00-48FE-97CA-7D4DBF0B4E58}"/>
              </a:ext>
            </a:extLst>
          </p:cNvPr>
          <p:cNvSpPr>
            <a:spLocks noGrp="1"/>
          </p:cNvSpPr>
          <p:nvPr>
            <p:ph type="sldNum" sz="quarter" idx="12"/>
          </p:nvPr>
        </p:nvSpPr>
        <p:spPr/>
        <p:txBody>
          <a:bodyPr/>
          <a:lstStyle/>
          <a:p>
            <a:fld id="{4CF21294-3A13-454C-99DD-AC90F64DC710}" type="slidenum">
              <a:rPr lang="zh-CN" altLang="en-US" smtClean="0"/>
              <a:t>‹#›</a:t>
            </a:fld>
            <a:endParaRPr lang="zh-CN" altLang="en-US"/>
          </a:p>
        </p:txBody>
      </p:sp>
    </p:spTree>
    <p:extLst>
      <p:ext uri="{BB962C8B-B14F-4D97-AF65-F5344CB8AC3E}">
        <p14:creationId xmlns:p14="http://schemas.microsoft.com/office/powerpoint/2010/main" val="2598245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9B3F31-07CE-F0F4-E9D7-D9751D672C1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875742B-D21B-1A48-6B4C-20611436A5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007D526-9BD4-9448-9A30-EB6B204DDB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6D1BDAD-42EF-A083-5DE8-A15BFB317D60}"/>
              </a:ext>
            </a:extLst>
          </p:cNvPr>
          <p:cNvSpPr>
            <a:spLocks noGrp="1"/>
          </p:cNvSpPr>
          <p:nvPr>
            <p:ph type="dt" sz="half" idx="10"/>
          </p:nvPr>
        </p:nvSpPr>
        <p:spPr/>
        <p:txBody>
          <a:bodyPr/>
          <a:lstStyle/>
          <a:p>
            <a:fld id="{E2A62085-692B-4641-ACBE-BD8BFAECB296}" type="datetimeFigureOut">
              <a:rPr lang="zh-CN" altLang="en-US" smtClean="0"/>
              <a:t>2025/11/17</a:t>
            </a:fld>
            <a:endParaRPr lang="zh-CN" altLang="en-US"/>
          </a:p>
        </p:txBody>
      </p:sp>
      <p:sp>
        <p:nvSpPr>
          <p:cNvPr id="6" name="页脚占位符 5">
            <a:extLst>
              <a:ext uri="{FF2B5EF4-FFF2-40B4-BE49-F238E27FC236}">
                <a16:creationId xmlns:a16="http://schemas.microsoft.com/office/drawing/2014/main" id="{993B0107-7FFB-AD38-C440-0C0100BCC03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B6E365D-EE47-E3C0-1AB7-915E28A8934C}"/>
              </a:ext>
            </a:extLst>
          </p:cNvPr>
          <p:cNvSpPr>
            <a:spLocks noGrp="1"/>
          </p:cNvSpPr>
          <p:nvPr>
            <p:ph type="sldNum" sz="quarter" idx="12"/>
          </p:nvPr>
        </p:nvSpPr>
        <p:spPr/>
        <p:txBody>
          <a:bodyPr/>
          <a:lstStyle/>
          <a:p>
            <a:fld id="{4CF21294-3A13-454C-99DD-AC90F64DC710}" type="slidenum">
              <a:rPr lang="zh-CN" altLang="en-US" smtClean="0"/>
              <a:t>‹#›</a:t>
            </a:fld>
            <a:endParaRPr lang="zh-CN" altLang="en-US"/>
          </a:p>
        </p:txBody>
      </p:sp>
    </p:spTree>
    <p:extLst>
      <p:ext uri="{BB962C8B-B14F-4D97-AF65-F5344CB8AC3E}">
        <p14:creationId xmlns:p14="http://schemas.microsoft.com/office/powerpoint/2010/main" val="3637131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B0ABCF-2E07-F76E-2E88-43B467FDCE8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F1301DF-C638-860C-162B-1BF277F04FB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AC400EE-D88A-549D-81FB-D091ABFEBE39}"/>
              </a:ext>
            </a:extLst>
          </p:cNvPr>
          <p:cNvSpPr>
            <a:spLocks noGrp="1"/>
          </p:cNvSpPr>
          <p:nvPr>
            <p:ph type="dt" sz="half" idx="10"/>
          </p:nvPr>
        </p:nvSpPr>
        <p:spPr/>
        <p:txBody>
          <a:bodyPr/>
          <a:lstStyle/>
          <a:p>
            <a:fld id="{E2A62085-692B-4641-ACBE-BD8BFAECB296}" type="datetimeFigureOut">
              <a:rPr lang="zh-CN" altLang="en-US" smtClean="0"/>
              <a:t>2025/11/17</a:t>
            </a:fld>
            <a:endParaRPr lang="zh-CN" altLang="en-US"/>
          </a:p>
        </p:txBody>
      </p:sp>
      <p:sp>
        <p:nvSpPr>
          <p:cNvPr id="5" name="页脚占位符 4">
            <a:extLst>
              <a:ext uri="{FF2B5EF4-FFF2-40B4-BE49-F238E27FC236}">
                <a16:creationId xmlns:a16="http://schemas.microsoft.com/office/drawing/2014/main" id="{72933CBA-DFCB-8ADA-FD6C-F20F1270B95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ABEBC8C-A7AB-E62D-0DD6-3B55C37E61AF}"/>
              </a:ext>
            </a:extLst>
          </p:cNvPr>
          <p:cNvSpPr>
            <a:spLocks noGrp="1"/>
          </p:cNvSpPr>
          <p:nvPr>
            <p:ph type="sldNum" sz="quarter" idx="12"/>
          </p:nvPr>
        </p:nvSpPr>
        <p:spPr/>
        <p:txBody>
          <a:bodyPr/>
          <a:lstStyle/>
          <a:p>
            <a:fld id="{4CF21294-3A13-454C-99DD-AC90F64DC710}" type="slidenum">
              <a:rPr lang="zh-CN" altLang="en-US" smtClean="0"/>
              <a:t>‹#›</a:t>
            </a:fld>
            <a:endParaRPr lang="zh-CN" altLang="en-US"/>
          </a:p>
        </p:txBody>
      </p:sp>
    </p:spTree>
    <p:extLst>
      <p:ext uri="{BB962C8B-B14F-4D97-AF65-F5344CB8AC3E}">
        <p14:creationId xmlns:p14="http://schemas.microsoft.com/office/powerpoint/2010/main" val="49812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D073ACC-C618-72EF-01D6-9BF34DD3D75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B948AAF-4F6B-E523-D52C-D9078696D15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CC76048-7D92-CE93-EE54-5213CB9D1E92}"/>
              </a:ext>
            </a:extLst>
          </p:cNvPr>
          <p:cNvSpPr>
            <a:spLocks noGrp="1"/>
          </p:cNvSpPr>
          <p:nvPr>
            <p:ph type="dt" sz="half" idx="10"/>
          </p:nvPr>
        </p:nvSpPr>
        <p:spPr/>
        <p:txBody>
          <a:bodyPr/>
          <a:lstStyle/>
          <a:p>
            <a:fld id="{E2A62085-692B-4641-ACBE-BD8BFAECB296}" type="datetimeFigureOut">
              <a:rPr lang="zh-CN" altLang="en-US" smtClean="0"/>
              <a:t>2025/11/17</a:t>
            </a:fld>
            <a:endParaRPr lang="zh-CN" altLang="en-US"/>
          </a:p>
        </p:txBody>
      </p:sp>
      <p:sp>
        <p:nvSpPr>
          <p:cNvPr id="5" name="页脚占位符 4">
            <a:extLst>
              <a:ext uri="{FF2B5EF4-FFF2-40B4-BE49-F238E27FC236}">
                <a16:creationId xmlns:a16="http://schemas.microsoft.com/office/drawing/2014/main" id="{3ED29D05-10F0-4C49-0964-661011F1CCF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ACC5226-EFB6-3FC1-D62B-95EBD5AFAB3F}"/>
              </a:ext>
            </a:extLst>
          </p:cNvPr>
          <p:cNvSpPr>
            <a:spLocks noGrp="1"/>
          </p:cNvSpPr>
          <p:nvPr>
            <p:ph type="sldNum" sz="quarter" idx="12"/>
          </p:nvPr>
        </p:nvSpPr>
        <p:spPr/>
        <p:txBody>
          <a:bodyPr/>
          <a:lstStyle/>
          <a:p>
            <a:fld id="{4CF21294-3A13-454C-99DD-AC90F64DC710}" type="slidenum">
              <a:rPr lang="zh-CN" altLang="en-US" smtClean="0"/>
              <a:t>‹#›</a:t>
            </a:fld>
            <a:endParaRPr lang="zh-CN" altLang="en-US"/>
          </a:p>
        </p:txBody>
      </p:sp>
    </p:spTree>
    <p:extLst>
      <p:ext uri="{BB962C8B-B14F-4D97-AF65-F5344CB8AC3E}">
        <p14:creationId xmlns:p14="http://schemas.microsoft.com/office/powerpoint/2010/main" val="306313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70B9D64-F593-1981-D0EB-17CCCBA619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2374F71-252A-AED5-3485-86D1457BF7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D32A628-8129-F250-FA06-AC5A5D6E03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A62085-692B-4641-ACBE-BD8BFAECB296}" type="datetimeFigureOut">
              <a:rPr lang="zh-CN" altLang="en-US" smtClean="0"/>
              <a:t>2025/11/17</a:t>
            </a:fld>
            <a:endParaRPr lang="zh-CN" altLang="en-US"/>
          </a:p>
        </p:txBody>
      </p:sp>
      <p:sp>
        <p:nvSpPr>
          <p:cNvPr id="5" name="页脚占位符 4">
            <a:extLst>
              <a:ext uri="{FF2B5EF4-FFF2-40B4-BE49-F238E27FC236}">
                <a16:creationId xmlns:a16="http://schemas.microsoft.com/office/drawing/2014/main" id="{CE678381-286B-264C-AA9F-B380BBACD7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63BD1F54-3CAB-2EA0-CC6E-27C4524442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F21294-3A13-454C-99DD-AC90F64DC710}" type="slidenum">
              <a:rPr lang="zh-CN" altLang="en-US" smtClean="0"/>
              <a:t>‹#›</a:t>
            </a:fld>
            <a:endParaRPr lang="zh-CN" altLang="en-US"/>
          </a:p>
        </p:txBody>
      </p:sp>
    </p:spTree>
    <p:extLst>
      <p:ext uri="{BB962C8B-B14F-4D97-AF65-F5344CB8AC3E}">
        <p14:creationId xmlns:p14="http://schemas.microsoft.com/office/powerpoint/2010/main" val="3026928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19">
            <a:extLst>
              <a:ext uri="{FF2B5EF4-FFF2-40B4-BE49-F238E27FC236}">
                <a16:creationId xmlns:a16="http://schemas.microsoft.com/office/drawing/2014/main" id="{A4E37431-20F0-4DD6-84A9-ED2B644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1">
            <a:extLst>
              <a:ext uri="{FF2B5EF4-FFF2-40B4-BE49-F238E27FC236}">
                <a16:creationId xmlns:a16="http://schemas.microsoft.com/office/drawing/2014/main" id="{0AE98B72-66C6-4AB4-AF0D-BA830DE86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23">
            <a:extLst>
              <a:ext uri="{FF2B5EF4-FFF2-40B4-BE49-F238E27FC236}">
                <a16:creationId xmlns:a16="http://schemas.microsoft.com/office/drawing/2014/main" id="{407EAFC6-733F-403D-BB4D-05A3A2874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7A36730-4CB0-4F61-AD11-A44C97658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C69C79E1-F916-4929-A4F3-DE763D4BF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767334AB-16BD-4EC7-8C6B-4B5171600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标题 1">
            <a:extLst>
              <a:ext uri="{FF2B5EF4-FFF2-40B4-BE49-F238E27FC236}">
                <a16:creationId xmlns:a16="http://schemas.microsoft.com/office/drawing/2014/main" id="{C623E073-2DEF-E05D-9BC3-19DB4FAD55BD}"/>
              </a:ext>
            </a:extLst>
          </p:cNvPr>
          <p:cNvSpPr>
            <a:spLocks noGrp="1"/>
          </p:cNvSpPr>
          <p:nvPr>
            <p:ph type="ctrTitle"/>
          </p:nvPr>
        </p:nvSpPr>
        <p:spPr>
          <a:xfrm>
            <a:off x="85520" y="891652"/>
            <a:ext cx="5233240" cy="3030724"/>
          </a:xfrm>
        </p:spPr>
        <p:txBody>
          <a:bodyPr anchor="b">
            <a:normAutofit/>
          </a:bodyPr>
          <a:lstStyle/>
          <a:p>
            <a:pPr algn="r"/>
            <a:r>
              <a:rPr lang="en-US" altLang="zh-CN" sz="4800" dirty="0">
                <a:solidFill>
                  <a:srgbClr val="FFFFFF"/>
                </a:solidFill>
              </a:rPr>
              <a:t>2026</a:t>
            </a:r>
            <a:r>
              <a:rPr lang="zh-CN" altLang="en-US" sz="4800" dirty="0">
                <a:solidFill>
                  <a:srgbClr val="FFFFFF"/>
                </a:solidFill>
              </a:rPr>
              <a:t>届网工</a:t>
            </a:r>
            <a:br>
              <a:rPr lang="en-US" altLang="zh-CN" sz="4800" dirty="0">
                <a:solidFill>
                  <a:srgbClr val="FFFFFF"/>
                </a:solidFill>
              </a:rPr>
            </a:br>
            <a:r>
              <a:rPr lang="zh-CN" altLang="en-US" sz="4800" dirty="0">
                <a:solidFill>
                  <a:srgbClr val="FFFFFF"/>
                </a:solidFill>
              </a:rPr>
              <a:t>毕业设计指导说明</a:t>
            </a:r>
            <a:br>
              <a:rPr lang="en-US" altLang="zh-CN" sz="4800" dirty="0">
                <a:solidFill>
                  <a:srgbClr val="FFFFFF"/>
                </a:solidFill>
              </a:rPr>
            </a:br>
            <a:endParaRPr lang="zh-CN" altLang="en-US" sz="4800" dirty="0">
              <a:solidFill>
                <a:srgbClr val="FFFFFF"/>
              </a:solidFill>
            </a:endParaRPr>
          </a:p>
        </p:txBody>
      </p:sp>
      <p:sp>
        <p:nvSpPr>
          <p:cNvPr id="3" name="副标题 2">
            <a:extLst>
              <a:ext uri="{FF2B5EF4-FFF2-40B4-BE49-F238E27FC236}">
                <a16:creationId xmlns:a16="http://schemas.microsoft.com/office/drawing/2014/main" id="{01795E6F-C9BB-21F2-96E1-575963C52907}"/>
              </a:ext>
            </a:extLst>
          </p:cNvPr>
          <p:cNvSpPr>
            <a:spLocks noGrp="1"/>
          </p:cNvSpPr>
          <p:nvPr>
            <p:ph type="subTitle" idx="1"/>
          </p:nvPr>
        </p:nvSpPr>
        <p:spPr>
          <a:xfrm>
            <a:off x="945791" y="4745317"/>
            <a:ext cx="4126272" cy="1375145"/>
          </a:xfrm>
        </p:spPr>
        <p:txBody>
          <a:bodyPr>
            <a:normAutofit/>
          </a:bodyPr>
          <a:lstStyle/>
          <a:p>
            <a:pPr algn="r"/>
            <a:endParaRPr lang="zh-CN" altLang="en-US">
              <a:solidFill>
                <a:srgbClr val="FFFFFF"/>
              </a:solidFill>
            </a:endParaRPr>
          </a:p>
        </p:txBody>
      </p:sp>
      <p:pic>
        <p:nvPicPr>
          <p:cNvPr id="4" name="图片 3">
            <a:extLst>
              <a:ext uri="{FF2B5EF4-FFF2-40B4-BE49-F238E27FC236}">
                <a16:creationId xmlns:a16="http://schemas.microsoft.com/office/drawing/2014/main" id="{EF5D8FFE-87F0-9C76-C96D-04B7F7749748}"/>
              </a:ext>
            </a:extLst>
          </p:cNvPr>
          <p:cNvPicPr>
            <a:picLocks noChangeAspect="1"/>
          </p:cNvPicPr>
          <p:nvPr/>
        </p:nvPicPr>
        <p:blipFill>
          <a:blip r:embed="rId2"/>
          <a:srcRect t="2975" r="9090" b="36872"/>
          <a:stretch>
            <a:fillRect/>
          </a:stretch>
        </p:blipFill>
        <p:spPr>
          <a:xfrm>
            <a:off x="6096000" y="1188311"/>
            <a:ext cx="5608320" cy="3916541"/>
          </a:xfrm>
          <a:prstGeom prst="rect">
            <a:avLst/>
          </a:prstGeom>
        </p:spPr>
      </p:pic>
    </p:spTree>
    <p:extLst>
      <p:ext uri="{BB962C8B-B14F-4D97-AF65-F5344CB8AC3E}">
        <p14:creationId xmlns:p14="http://schemas.microsoft.com/office/powerpoint/2010/main" val="3086876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20D15E-1389-0DC5-1528-7AFEB7BFD0AA}"/>
              </a:ext>
            </a:extLst>
          </p:cNvPr>
          <p:cNvSpPr>
            <a:spLocks noGrp="1"/>
          </p:cNvSpPr>
          <p:nvPr>
            <p:ph type="title"/>
          </p:nvPr>
        </p:nvSpPr>
        <p:spPr/>
        <p:txBody>
          <a:bodyPr/>
          <a:lstStyle/>
          <a:p>
            <a:r>
              <a:rPr lang="zh-CN" altLang="en-US" dirty="0"/>
              <a:t>毕业设计的总体日程安排</a:t>
            </a:r>
          </a:p>
        </p:txBody>
      </p:sp>
      <p:sp>
        <p:nvSpPr>
          <p:cNvPr id="3" name="内容占位符 2">
            <a:extLst>
              <a:ext uri="{FF2B5EF4-FFF2-40B4-BE49-F238E27FC236}">
                <a16:creationId xmlns:a16="http://schemas.microsoft.com/office/drawing/2014/main" id="{5C622324-BEC2-03FA-B8BD-633064D8DD6A}"/>
              </a:ext>
            </a:extLst>
          </p:cNvPr>
          <p:cNvSpPr>
            <a:spLocks noGrp="1"/>
          </p:cNvSpPr>
          <p:nvPr>
            <p:ph idx="1"/>
          </p:nvPr>
        </p:nvSpPr>
        <p:spPr>
          <a:xfrm>
            <a:off x="936073" y="1758157"/>
            <a:ext cx="6095592" cy="3926718"/>
          </a:xfrm>
        </p:spPr>
        <p:txBody>
          <a:bodyPr>
            <a:normAutofit/>
          </a:bodyPr>
          <a:lstStyle/>
          <a:p>
            <a:r>
              <a:rPr lang="en-US" altLang="zh-CN" sz="2000" dirty="0"/>
              <a:t>10</a:t>
            </a:r>
            <a:r>
              <a:rPr lang="zh-CN" altLang="en-US" sz="2000" dirty="0"/>
              <a:t>月</a:t>
            </a:r>
            <a:r>
              <a:rPr lang="en-US" altLang="zh-CN" sz="2000" dirty="0"/>
              <a:t>20</a:t>
            </a:r>
            <a:r>
              <a:rPr lang="zh-CN" altLang="en-US" sz="2000" dirty="0"/>
              <a:t>日定导师和选题</a:t>
            </a:r>
            <a:endParaRPr lang="en-US" altLang="zh-CN" sz="2000" dirty="0"/>
          </a:p>
          <a:p>
            <a:r>
              <a:rPr lang="en-US" altLang="zh-CN" sz="2000" dirty="0"/>
              <a:t>10</a:t>
            </a:r>
            <a:r>
              <a:rPr lang="zh-CN" altLang="en-US" sz="2000" dirty="0"/>
              <a:t>月</a:t>
            </a:r>
            <a:r>
              <a:rPr lang="en-US" altLang="zh-CN" sz="2000" dirty="0"/>
              <a:t>27</a:t>
            </a:r>
            <a:r>
              <a:rPr lang="zh-CN" altLang="en-US" sz="2000" dirty="0"/>
              <a:t>日前下达任务书</a:t>
            </a:r>
            <a:endParaRPr lang="en-US" altLang="zh-CN" sz="2000" dirty="0"/>
          </a:p>
          <a:p>
            <a:r>
              <a:rPr lang="en-US" altLang="zh-CN" sz="2000" dirty="0"/>
              <a:t>11</a:t>
            </a:r>
            <a:r>
              <a:rPr lang="zh-CN" altLang="en-US" sz="2000" dirty="0"/>
              <a:t>月</a:t>
            </a:r>
            <a:r>
              <a:rPr lang="en-US" altLang="zh-CN" sz="2000" dirty="0"/>
              <a:t>26</a:t>
            </a:r>
            <a:r>
              <a:rPr lang="zh-CN" altLang="en-US" sz="2000" dirty="0"/>
              <a:t>日前完成毕业设计开题（</a:t>
            </a:r>
            <a:r>
              <a:rPr lang="zh-CN" altLang="en-US" sz="2000" dirty="0">
                <a:solidFill>
                  <a:srgbClr val="FF0000"/>
                </a:solidFill>
              </a:rPr>
              <a:t>开题有同意开题和不同意开题两个结论，不同意开题毕设终止</a:t>
            </a:r>
            <a:r>
              <a:rPr lang="zh-CN" altLang="en-US" sz="2000" dirty="0"/>
              <a:t>）</a:t>
            </a:r>
            <a:endParaRPr lang="en-US" altLang="zh-CN" sz="2000" dirty="0"/>
          </a:p>
          <a:p>
            <a:r>
              <a:rPr lang="en-US" altLang="zh-CN" sz="2000" dirty="0"/>
              <a:t>12</a:t>
            </a:r>
            <a:r>
              <a:rPr lang="zh-CN" altLang="en-US" sz="2000" dirty="0"/>
              <a:t>月</a:t>
            </a:r>
            <a:r>
              <a:rPr lang="en-US" altLang="zh-CN" sz="2000" dirty="0"/>
              <a:t>31</a:t>
            </a:r>
            <a:r>
              <a:rPr lang="zh-CN" altLang="en-US" sz="2000" dirty="0"/>
              <a:t>日完成文献综述和文献翻译</a:t>
            </a:r>
            <a:endParaRPr lang="en-US" altLang="zh-CN" sz="2000" dirty="0"/>
          </a:p>
          <a:p>
            <a:r>
              <a:rPr lang="en-US" altLang="zh-CN" sz="2000" dirty="0"/>
              <a:t>2</a:t>
            </a:r>
            <a:r>
              <a:rPr lang="zh-CN" altLang="en-US" sz="2000" dirty="0"/>
              <a:t>月</a:t>
            </a:r>
            <a:r>
              <a:rPr lang="en-US" altLang="zh-CN" sz="2000" dirty="0"/>
              <a:t>28</a:t>
            </a:r>
            <a:r>
              <a:rPr lang="zh-CN" altLang="en-US" sz="2000" dirty="0"/>
              <a:t>日前完成论文初稿写作</a:t>
            </a:r>
            <a:endParaRPr lang="en-US" altLang="zh-CN" sz="2000" dirty="0"/>
          </a:p>
          <a:p>
            <a:r>
              <a:rPr lang="en-US" altLang="zh-CN" sz="2000" dirty="0"/>
              <a:t>4</a:t>
            </a:r>
            <a:r>
              <a:rPr lang="zh-CN" altLang="en-US" sz="2000" dirty="0"/>
              <a:t>月</a:t>
            </a:r>
            <a:r>
              <a:rPr lang="en-US" altLang="zh-CN" sz="2000" dirty="0"/>
              <a:t>15</a:t>
            </a:r>
            <a:r>
              <a:rPr lang="zh-CN" altLang="en-US" sz="2000" dirty="0"/>
              <a:t>日交论文材料</a:t>
            </a:r>
            <a:r>
              <a:rPr lang="en-US" altLang="zh-CN" sz="2000" dirty="0"/>
              <a:t>(</a:t>
            </a:r>
            <a:r>
              <a:rPr lang="zh-CN" altLang="en-US" sz="2000" dirty="0">
                <a:solidFill>
                  <a:schemeClr val="accent2">
                    <a:lumMod val="75000"/>
                  </a:schemeClr>
                </a:solidFill>
              </a:rPr>
              <a:t>这稿论文会被送外审</a:t>
            </a:r>
            <a:r>
              <a:rPr lang="en-US" altLang="zh-CN" sz="2000" dirty="0"/>
              <a:t>)</a:t>
            </a:r>
          </a:p>
          <a:p>
            <a:r>
              <a:rPr lang="en-US" altLang="zh-CN" sz="2000" dirty="0">
                <a:solidFill>
                  <a:srgbClr val="FF0000"/>
                </a:solidFill>
              </a:rPr>
              <a:t>5</a:t>
            </a:r>
            <a:r>
              <a:rPr lang="zh-CN" altLang="en-US" sz="2000" dirty="0">
                <a:solidFill>
                  <a:srgbClr val="FF0000"/>
                </a:solidFill>
              </a:rPr>
              <a:t>月</a:t>
            </a:r>
            <a:r>
              <a:rPr lang="en-US" altLang="zh-CN" sz="2000" dirty="0">
                <a:solidFill>
                  <a:srgbClr val="FF0000"/>
                </a:solidFill>
              </a:rPr>
              <a:t>13</a:t>
            </a:r>
            <a:r>
              <a:rPr lang="zh-CN" altLang="en-US" sz="2000" dirty="0">
                <a:solidFill>
                  <a:srgbClr val="FF0000"/>
                </a:solidFill>
              </a:rPr>
              <a:t>日前</a:t>
            </a:r>
            <a:r>
              <a:rPr lang="zh-CN" altLang="en-US" sz="2000" dirty="0"/>
              <a:t>答辩、交终稿材料</a:t>
            </a:r>
            <a:endParaRPr lang="en-US" altLang="zh-CN" sz="2000" dirty="0"/>
          </a:p>
        </p:txBody>
      </p:sp>
      <p:pic>
        <p:nvPicPr>
          <p:cNvPr id="6" name="图片 5">
            <a:extLst>
              <a:ext uri="{FF2B5EF4-FFF2-40B4-BE49-F238E27FC236}">
                <a16:creationId xmlns:a16="http://schemas.microsoft.com/office/drawing/2014/main" id="{64785BD9-8432-9807-8539-6E8CE6FD0ADD}"/>
              </a:ext>
            </a:extLst>
          </p:cNvPr>
          <p:cNvPicPr>
            <a:picLocks noChangeAspect="1"/>
          </p:cNvPicPr>
          <p:nvPr/>
        </p:nvPicPr>
        <p:blipFill>
          <a:blip r:embed="rId2"/>
          <a:stretch>
            <a:fillRect/>
          </a:stretch>
        </p:blipFill>
        <p:spPr>
          <a:xfrm>
            <a:off x="7927014" y="0"/>
            <a:ext cx="3426786" cy="6858000"/>
          </a:xfrm>
          <a:prstGeom prst="rect">
            <a:avLst/>
          </a:prstGeom>
        </p:spPr>
      </p:pic>
    </p:spTree>
    <p:extLst>
      <p:ext uri="{BB962C8B-B14F-4D97-AF65-F5344CB8AC3E}">
        <p14:creationId xmlns:p14="http://schemas.microsoft.com/office/powerpoint/2010/main" val="1597450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EE15DF-7C50-BE1C-E977-FE430C9FA90F}"/>
              </a:ext>
            </a:extLst>
          </p:cNvPr>
          <p:cNvSpPr>
            <a:spLocks noGrp="1"/>
          </p:cNvSpPr>
          <p:nvPr>
            <p:ph type="title"/>
          </p:nvPr>
        </p:nvSpPr>
        <p:spPr/>
        <p:txBody>
          <a:bodyPr/>
          <a:lstStyle/>
          <a:p>
            <a:r>
              <a:rPr lang="zh-CN" altLang="en-US" dirty="0"/>
              <a:t>毕业设计教学大纲简析</a:t>
            </a:r>
          </a:p>
        </p:txBody>
      </p:sp>
      <p:sp>
        <p:nvSpPr>
          <p:cNvPr id="3" name="内容占位符 2">
            <a:extLst>
              <a:ext uri="{FF2B5EF4-FFF2-40B4-BE49-F238E27FC236}">
                <a16:creationId xmlns:a16="http://schemas.microsoft.com/office/drawing/2014/main" id="{4140441F-0C37-6790-1EE9-6EC947F4F703}"/>
              </a:ext>
            </a:extLst>
          </p:cNvPr>
          <p:cNvSpPr>
            <a:spLocks noGrp="1"/>
          </p:cNvSpPr>
          <p:nvPr>
            <p:ph idx="1"/>
          </p:nvPr>
        </p:nvSpPr>
        <p:spPr/>
        <p:txBody>
          <a:bodyPr/>
          <a:lstStyle/>
          <a:p>
            <a:r>
              <a:rPr lang="zh-CN" altLang="en-US" dirty="0"/>
              <a:t>教学目标</a:t>
            </a:r>
          </a:p>
        </p:txBody>
      </p:sp>
      <p:pic>
        <p:nvPicPr>
          <p:cNvPr id="5" name="图片 4">
            <a:extLst>
              <a:ext uri="{FF2B5EF4-FFF2-40B4-BE49-F238E27FC236}">
                <a16:creationId xmlns:a16="http://schemas.microsoft.com/office/drawing/2014/main" id="{2000AE80-1B89-59E2-D26E-C6B467A81ED8}"/>
              </a:ext>
            </a:extLst>
          </p:cNvPr>
          <p:cNvPicPr>
            <a:picLocks noChangeAspect="1"/>
          </p:cNvPicPr>
          <p:nvPr/>
        </p:nvPicPr>
        <p:blipFill>
          <a:blip r:embed="rId2"/>
          <a:stretch>
            <a:fillRect/>
          </a:stretch>
        </p:blipFill>
        <p:spPr>
          <a:xfrm>
            <a:off x="419100" y="2287206"/>
            <a:ext cx="11353800" cy="4413138"/>
          </a:xfrm>
          <a:prstGeom prst="rect">
            <a:avLst/>
          </a:prstGeom>
          <a:ln>
            <a:solidFill>
              <a:srgbClr val="FF0000"/>
            </a:solidFill>
          </a:ln>
        </p:spPr>
      </p:pic>
      <p:sp>
        <p:nvSpPr>
          <p:cNvPr id="6" name="文本框 5">
            <a:extLst>
              <a:ext uri="{FF2B5EF4-FFF2-40B4-BE49-F238E27FC236}">
                <a16:creationId xmlns:a16="http://schemas.microsoft.com/office/drawing/2014/main" id="{E9A8C440-B9C7-CB79-4CAC-4E9CF8B692FC}"/>
              </a:ext>
            </a:extLst>
          </p:cNvPr>
          <p:cNvSpPr txBox="1"/>
          <p:nvPr/>
        </p:nvSpPr>
        <p:spPr>
          <a:xfrm>
            <a:off x="6599583" y="0"/>
            <a:ext cx="5173317" cy="2308324"/>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zh-CN" altLang="en-US" dirty="0"/>
              <a:t>目标</a:t>
            </a:r>
            <a:r>
              <a:rPr lang="en-US" altLang="zh-CN" dirty="0"/>
              <a:t>1</a:t>
            </a:r>
            <a:r>
              <a:rPr lang="zh-CN" altLang="en-US" dirty="0"/>
              <a:t>：</a:t>
            </a:r>
            <a:r>
              <a:rPr lang="zh-CN" altLang="en-US" dirty="0">
                <a:solidFill>
                  <a:srgbClr val="FF0000"/>
                </a:solidFill>
              </a:rPr>
              <a:t>需求分析</a:t>
            </a:r>
            <a:r>
              <a:rPr lang="zh-CN" altLang="en-US" dirty="0"/>
              <a:t>能力要求</a:t>
            </a:r>
            <a:endParaRPr lang="en-US" altLang="zh-CN" dirty="0"/>
          </a:p>
          <a:p>
            <a:r>
              <a:rPr lang="zh-CN" altLang="en-US" dirty="0"/>
              <a:t>目标</a:t>
            </a:r>
            <a:r>
              <a:rPr lang="en-US" altLang="zh-CN" dirty="0"/>
              <a:t>2</a:t>
            </a:r>
            <a:r>
              <a:rPr lang="zh-CN" altLang="en-US" dirty="0"/>
              <a:t>：对</a:t>
            </a:r>
            <a:r>
              <a:rPr lang="zh-CN" altLang="en-US" dirty="0">
                <a:solidFill>
                  <a:srgbClr val="0070C0"/>
                </a:solidFill>
              </a:rPr>
              <a:t>非技术性因素</a:t>
            </a:r>
            <a:r>
              <a:rPr lang="zh-CN" altLang="en-US" dirty="0"/>
              <a:t>的理解与响应要求</a:t>
            </a:r>
            <a:endParaRPr lang="en-US" altLang="zh-CN" dirty="0"/>
          </a:p>
          <a:p>
            <a:r>
              <a:rPr lang="zh-CN" altLang="en-US" dirty="0"/>
              <a:t>目标</a:t>
            </a:r>
            <a:r>
              <a:rPr lang="en-US" altLang="zh-CN" dirty="0"/>
              <a:t>3</a:t>
            </a:r>
            <a:r>
              <a:rPr lang="zh-CN" altLang="en-US" dirty="0"/>
              <a:t>：</a:t>
            </a:r>
            <a:r>
              <a:rPr lang="zh-CN" altLang="en-US" dirty="0">
                <a:solidFill>
                  <a:srgbClr val="00B050"/>
                </a:solidFill>
              </a:rPr>
              <a:t>解决方案设计</a:t>
            </a:r>
            <a:r>
              <a:rPr lang="zh-CN" altLang="en-US" dirty="0"/>
              <a:t>能力要求</a:t>
            </a:r>
            <a:endParaRPr lang="en-US" altLang="zh-CN" dirty="0"/>
          </a:p>
          <a:p>
            <a:r>
              <a:rPr lang="zh-CN" altLang="en-US" dirty="0"/>
              <a:t>目标</a:t>
            </a:r>
            <a:r>
              <a:rPr lang="en-US" altLang="zh-CN" dirty="0"/>
              <a:t>4</a:t>
            </a:r>
            <a:r>
              <a:rPr lang="zh-CN" altLang="en-US" dirty="0"/>
              <a:t>：</a:t>
            </a:r>
            <a:r>
              <a:rPr lang="zh-CN" altLang="en-US" dirty="0">
                <a:solidFill>
                  <a:schemeClr val="tx1"/>
                </a:solidFill>
              </a:rPr>
              <a:t>解决</a:t>
            </a:r>
            <a:r>
              <a:rPr lang="zh-CN" altLang="en-US" dirty="0">
                <a:solidFill>
                  <a:srgbClr val="E57214"/>
                </a:solidFill>
              </a:rPr>
              <a:t>方案实现以及新颖性</a:t>
            </a:r>
            <a:r>
              <a:rPr lang="zh-CN" altLang="en-US" dirty="0"/>
              <a:t>要求</a:t>
            </a:r>
            <a:endParaRPr lang="en-US" altLang="zh-CN" dirty="0"/>
          </a:p>
          <a:p>
            <a:r>
              <a:rPr lang="zh-CN" altLang="en-US" dirty="0"/>
              <a:t>目标</a:t>
            </a:r>
            <a:r>
              <a:rPr lang="en-US" altLang="zh-CN" dirty="0"/>
              <a:t>5</a:t>
            </a:r>
            <a:r>
              <a:rPr lang="zh-CN" altLang="en-US" dirty="0"/>
              <a:t>：对</a:t>
            </a:r>
            <a:r>
              <a:rPr lang="zh-CN" altLang="en-US" dirty="0">
                <a:solidFill>
                  <a:srgbClr val="00B050"/>
                </a:solidFill>
              </a:rPr>
              <a:t>成本控制、项目管理</a:t>
            </a:r>
            <a:r>
              <a:rPr lang="zh-CN" altLang="en-US" dirty="0"/>
              <a:t>的理解与响应要求</a:t>
            </a:r>
            <a:endParaRPr lang="en-US" altLang="zh-CN" dirty="0"/>
          </a:p>
          <a:p>
            <a:r>
              <a:rPr lang="zh-CN" altLang="en-US" dirty="0"/>
              <a:t>目标</a:t>
            </a:r>
            <a:r>
              <a:rPr lang="en-US" altLang="zh-CN" dirty="0"/>
              <a:t>6</a:t>
            </a:r>
            <a:r>
              <a:rPr lang="zh-CN" altLang="en-US" dirty="0"/>
              <a:t>：通过</a:t>
            </a:r>
            <a:r>
              <a:rPr lang="zh-CN" altLang="en-US" dirty="0">
                <a:solidFill>
                  <a:schemeClr val="tx1"/>
                </a:solidFill>
              </a:rPr>
              <a:t>文献阅读与归纳总结获取</a:t>
            </a:r>
            <a:r>
              <a:rPr lang="zh-CN" altLang="en-US" dirty="0">
                <a:solidFill>
                  <a:srgbClr val="E57214"/>
                </a:solidFill>
              </a:rPr>
              <a:t>新知识新技术新方法、并借鉴使用</a:t>
            </a:r>
            <a:r>
              <a:rPr lang="zh-CN" altLang="en-US" dirty="0">
                <a:solidFill>
                  <a:schemeClr val="tx1"/>
                </a:solidFill>
              </a:rPr>
              <a:t>的</a:t>
            </a:r>
            <a:r>
              <a:rPr lang="zh-CN" altLang="en-US" dirty="0"/>
              <a:t>能力要求</a:t>
            </a:r>
            <a:endParaRPr lang="en-US" altLang="zh-CN" dirty="0"/>
          </a:p>
          <a:p>
            <a:r>
              <a:rPr lang="zh-CN" altLang="en-US" dirty="0"/>
              <a:t>目标</a:t>
            </a:r>
            <a:r>
              <a:rPr lang="en-US" altLang="zh-CN" dirty="0"/>
              <a:t>7</a:t>
            </a:r>
            <a:r>
              <a:rPr lang="zh-CN" altLang="en-US" dirty="0"/>
              <a:t>：</a:t>
            </a:r>
            <a:r>
              <a:rPr lang="zh-CN" altLang="en-US" dirty="0">
                <a:solidFill>
                  <a:srgbClr val="FF0000"/>
                </a:solidFill>
              </a:rPr>
              <a:t>写作</a:t>
            </a:r>
            <a:r>
              <a:rPr lang="zh-CN" altLang="en-US" dirty="0"/>
              <a:t>能力、</a:t>
            </a:r>
            <a:r>
              <a:rPr lang="zh-CN" altLang="en-US" dirty="0">
                <a:solidFill>
                  <a:srgbClr val="FF0000"/>
                </a:solidFill>
              </a:rPr>
              <a:t>口头交流表达</a:t>
            </a:r>
            <a:r>
              <a:rPr lang="zh-CN" altLang="en-US" dirty="0"/>
              <a:t>能力要求</a:t>
            </a:r>
            <a:endParaRPr lang="en-US" altLang="zh-CN" dirty="0"/>
          </a:p>
        </p:txBody>
      </p:sp>
    </p:spTree>
    <p:extLst>
      <p:ext uri="{BB962C8B-B14F-4D97-AF65-F5344CB8AC3E}">
        <p14:creationId xmlns:p14="http://schemas.microsoft.com/office/powerpoint/2010/main" val="3085809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7EB6C1-46A3-33FC-FE42-6449A583AD0D}"/>
              </a:ext>
            </a:extLst>
          </p:cNvPr>
          <p:cNvSpPr>
            <a:spLocks noGrp="1"/>
          </p:cNvSpPr>
          <p:nvPr>
            <p:ph type="title"/>
          </p:nvPr>
        </p:nvSpPr>
        <p:spPr/>
        <p:txBody>
          <a:bodyPr/>
          <a:lstStyle/>
          <a:p>
            <a:r>
              <a:rPr lang="zh-CN" altLang="en-US" dirty="0"/>
              <a:t>教学目标中的能力在哪里体现？</a:t>
            </a:r>
            <a:r>
              <a:rPr lang="en-US" altLang="zh-CN" dirty="0"/>
              <a:t>——</a:t>
            </a:r>
            <a:r>
              <a:rPr lang="zh-CN" altLang="en-US" dirty="0"/>
              <a:t>毕设环节中的文档及其作用说明</a:t>
            </a:r>
          </a:p>
        </p:txBody>
      </p:sp>
      <p:sp>
        <p:nvSpPr>
          <p:cNvPr id="3" name="内容占位符 2">
            <a:extLst>
              <a:ext uri="{FF2B5EF4-FFF2-40B4-BE49-F238E27FC236}">
                <a16:creationId xmlns:a16="http://schemas.microsoft.com/office/drawing/2014/main" id="{B2A461DB-4FA1-5D3D-32BB-FB1E028BDD7E}"/>
              </a:ext>
            </a:extLst>
          </p:cNvPr>
          <p:cNvSpPr>
            <a:spLocks noGrp="1"/>
          </p:cNvSpPr>
          <p:nvPr>
            <p:ph idx="1"/>
          </p:nvPr>
        </p:nvSpPr>
        <p:spPr>
          <a:xfrm>
            <a:off x="838200" y="1825624"/>
            <a:ext cx="7292009" cy="4919733"/>
          </a:xfrm>
        </p:spPr>
        <p:txBody>
          <a:bodyPr>
            <a:normAutofit/>
          </a:bodyPr>
          <a:lstStyle/>
          <a:p>
            <a:r>
              <a:rPr lang="en-US" altLang="zh-CN" dirty="0"/>
              <a:t>1</a:t>
            </a:r>
            <a:r>
              <a:rPr lang="zh-CN" altLang="en-US" dirty="0"/>
              <a:t>、任务书：</a:t>
            </a:r>
            <a:r>
              <a:rPr lang="zh-CN" altLang="en-US" dirty="0">
                <a:solidFill>
                  <a:srgbClr val="FF0000"/>
                </a:solidFill>
              </a:rPr>
              <a:t>你和指导老师之间关于毕业设计课题的合同</a:t>
            </a:r>
            <a:endParaRPr lang="en-US" altLang="zh-CN" dirty="0">
              <a:solidFill>
                <a:srgbClr val="FF0000"/>
              </a:solidFill>
            </a:endParaRPr>
          </a:p>
          <a:p>
            <a:r>
              <a:rPr lang="zh-CN" altLang="en-US" dirty="0"/>
              <a:t>指导老师填写</a:t>
            </a:r>
            <a:endParaRPr lang="en-US" altLang="zh-CN" dirty="0"/>
          </a:p>
          <a:p>
            <a:pPr lvl="1"/>
            <a:r>
              <a:rPr lang="zh-CN" altLang="zh-CN" dirty="0"/>
              <a:t>明确毕业设计的主要</a:t>
            </a:r>
            <a:r>
              <a:rPr lang="zh-CN" altLang="en-US" dirty="0"/>
              <a:t>任务与目标</a:t>
            </a:r>
            <a:endParaRPr lang="en-US" altLang="zh-CN" dirty="0"/>
          </a:p>
          <a:p>
            <a:pPr lvl="1"/>
            <a:r>
              <a:rPr lang="zh-CN" altLang="en-US" dirty="0"/>
              <a:t>设计的主要内容与基本要求</a:t>
            </a:r>
            <a:r>
              <a:rPr lang="en-US" altLang="zh-CN" dirty="0"/>
              <a:t>(</a:t>
            </a:r>
            <a:r>
              <a:rPr lang="zh-CN" altLang="zh-CN" dirty="0"/>
              <a:t>最后的工作成果</a:t>
            </a:r>
            <a:r>
              <a:rPr lang="en-US" altLang="zh-CN" dirty="0"/>
              <a:t>)</a:t>
            </a:r>
          </a:p>
          <a:p>
            <a:pPr lvl="1"/>
            <a:r>
              <a:rPr lang="zh-CN" altLang="zh-CN" dirty="0"/>
              <a:t>分阶段完成</a:t>
            </a:r>
            <a:r>
              <a:rPr lang="zh-CN" altLang="en-US" dirty="0"/>
              <a:t>的计划进度</a:t>
            </a:r>
            <a:r>
              <a:rPr lang="zh-CN" altLang="zh-CN" dirty="0"/>
              <a:t>和</a:t>
            </a:r>
            <a:endParaRPr lang="en-US" altLang="zh-CN" dirty="0"/>
          </a:p>
          <a:p>
            <a:pPr lvl="1"/>
            <a:r>
              <a:rPr lang="zh-CN" altLang="zh-CN" dirty="0"/>
              <a:t>主要</a:t>
            </a:r>
            <a:r>
              <a:rPr lang="zh-CN" altLang="en-US" dirty="0"/>
              <a:t>文献</a:t>
            </a:r>
            <a:r>
              <a:rPr lang="zh-CN" altLang="zh-CN" dirty="0"/>
              <a:t>。</a:t>
            </a:r>
            <a:endParaRPr lang="en-US" altLang="zh-CN" dirty="0"/>
          </a:p>
          <a:p>
            <a:pPr lvl="1"/>
            <a:r>
              <a:rPr lang="zh-CN" altLang="en-US" dirty="0"/>
              <a:t>源自企业项目的选题，由指导老师和学生共同填写，内容同上！</a:t>
            </a:r>
          </a:p>
          <a:p>
            <a:r>
              <a:rPr lang="zh-CN" altLang="en-US" dirty="0"/>
              <a:t>今年任务书在毕业设计管理系统里填写，不附件上传（可再导出，自动含电子签名）</a:t>
            </a:r>
          </a:p>
        </p:txBody>
      </p:sp>
      <p:pic>
        <p:nvPicPr>
          <p:cNvPr id="5" name="图片 4">
            <a:extLst>
              <a:ext uri="{FF2B5EF4-FFF2-40B4-BE49-F238E27FC236}">
                <a16:creationId xmlns:a16="http://schemas.microsoft.com/office/drawing/2014/main" id="{FA597E11-E631-92D9-EE24-C6A0D3952F0C}"/>
              </a:ext>
            </a:extLst>
          </p:cNvPr>
          <p:cNvPicPr>
            <a:picLocks noChangeAspect="1"/>
          </p:cNvPicPr>
          <p:nvPr/>
        </p:nvPicPr>
        <p:blipFill>
          <a:blip r:embed="rId2"/>
          <a:srcRect r="27743"/>
          <a:stretch>
            <a:fillRect/>
          </a:stretch>
        </p:blipFill>
        <p:spPr>
          <a:xfrm>
            <a:off x="8063936" y="1412664"/>
            <a:ext cx="4128064" cy="5445336"/>
          </a:xfrm>
          <a:prstGeom prst="rect">
            <a:avLst/>
          </a:prstGeom>
        </p:spPr>
      </p:pic>
    </p:spTree>
    <p:extLst>
      <p:ext uri="{BB962C8B-B14F-4D97-AF65-F5344CB8AC3E}">
        <p14:creationId xmlns:p14="http://schemas.microsoft.com/office/powerpoint/2010/main" val="1040525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285396-2359-AE75-E68D-0E3423C9FA34}"/>
              </a:ext>
            </a:extLst>
          </p:cNvPr>
          <p:cNvSpPr>
            <a:spLocks noGrp="1"/>
          </p:cNvSpPr>
          <p:nvPr>
            <p:ph type="title"/>
          </p:nvPr>
        </p:nvSpPr>
        <p:spPr/>
        <p:txBody>
          <a:bodyPr/>
          <a:lstStyle/>
          <a:p>
            <a:r>
              <a:rPr lang="en-US" altLang="zh-CN" dirty="0"/>
              <a:t>2</a:t>
            </a:r>
            <a:r>
              <a:rPr lang="zh-CN" altLang="en-US" dirty="0"/>
              <a:t>、开题报告</a:t>
            </a:r>
          </a:p>
        </p:txBody>
      </p:sp>
      <p:sp>
        <p:nvSpPr>
          <p:cNvPr id="3" name="内容占位符 2">
            <a:extLst>
              <a:ext uri="{FF2B5EF4-FFF2-40B4-BE49-F238E27FC236}">
                <a16:creationId xmlns:a16="http://schemas.microsoft.com/office/drawing/2014/main" id="{B37AA6F6-3211-3530-91C1-84167F07B6A7}"/>
              </a:ext>
            </a:extLst>
          </p:cNvPr>
          <p:cNvSpPr>
            <a:spLocks noGrp="1"/>
          </p:cNvSpPr>
          <p:nvPr>
            <p:ph idx="1"/>
          </p:nvPr>
        </p:nvSpPr>
        <p:spPr>
          <a:xfrm>
            <a:off x="838200" y="1825625"/>
            <a:ext cx="10515600" cy="4667250"/>
          </a:xfrm>
        </p:spPr>
        <p:txBody>
          <a:bodyPr>
            <a:normAutofit/>
          </a:bodyPr>
          <a:lstStyle/>
          <a:p>
            <a:pPr>
              <a:lnSpc>
                <a:spcPct val="150000"/>
              </a:lnSpc>
            </a:pPr>
            <a:r>
              <a:rPr lang="zh-CN" altLang="zh-CN" dirty="0"/>
              <a:t>选题的背景与意义</a:t>
            </a:r>
          </a:p>
          <a:p>
            <a:pPr>
              <a:lnSpc>
                <a:spcPct val="150000"/>
              </a:lnSpc>
            </a:pPr>
            <a:r>
              <a:rPr lang="zh-CN" altLang="zh-CN" dirty="0"/>
              <a:t>研究的基本内容与拟解决的主要问题；</a:t>
            </a:r>
            <a:endParaRPr lang="en-US" altLang="zh-CN" dirty="0"/>
          </a:p>
          <a:p>
            <a:pPr>
              <a:lnSpc>
                <a:spcPct val="150000"/>
              </a:lnSpc>
            </a:pPr>
            <a:r>
              <a:rPr lang="zh-CN" altLang="zh-CN" dirty="0"/>
              <a:t>研究的方法与技术路线；</a:t>
            </a:r>
          </a:p>
          <a:p>
            <a:pPr>
              <a:lnSpc>
                <a:spcPct val="150000"/>
              </a:lnSpc>
            </a:pPr>
            <a:r>
              <a:rPr lang="zh-CN" altLang="zh-CN" dirty="0"/>
              <a:t>研究的总体安排与进度；</a:t>
            </a:r>
          </a:p>
          <a:p>
            <a:pPr>
              <a:lnSpc>
                <a:spcPct val="150000"/>
              </a:lnSpc>
            </a:pPr>
            <a:r>
              <a:rPr lang="zh-CN" altLang="zh-CN" dirty="0"/>
              <a:t>主要参考文献</a:t>
            </a:r>
            <a:r>
              <a:rPr lang="en-US" altLang="zh-CN" dirty="0"/>
              <a:t>(15</a:t>
            </a:r>
            <a:r>
              <a:rPr lang="zh-CN" altLang="en-US" dirty="0"/>
              <a:t>篇以上、含至少</a:t>
            </a:r>
            <a:r>
              <a:rPr lang="en-US" altLang="zh-CN" dirty="0"/>
              <a:t>2</a:t>
            </a:r>
            <a:r>
              <a:rPr lang="zh-CN" altLang="en-US" dirty="0"/>
              <a:t>篇外文文献</a:t>
            </a:r>
            <a:r>
              <a:rPr lang="en-US" altLang="zh-CN" dirty="0"/>
              <a:t>)</a:t>
            </a:r>
            <a:r>
              <a:rPr lang="zh-CN" altLang="zh-CN" dirty="0"/>
              <a:t>；</a:t>
            </a:r>
          </a:p>
          <a:p>
            <a:pPr>
              <a:lnSpc>
                <a:spcPct val="150000"/>
              </a:lnSpc>
            </a:pPr>
            <a:r>
              <a:rPr lang="zh-CN" altLang="zh-CN" dirty="0"/>
              <a:t>指导教师审核意见及签名。</a:t>
            </a:r>
            <a:endParaRPr lang="zh-CN" altLang="en-US" dirty="0"/>
          </a:p>
        </p:txBody>
      </p:sp>
      <p:sp>
        <p:nvSpPr>
          <p:cNvPr id="4" name="矩形 3">
            <a:extLst>
              <a:ext uri="{FF2B5EF4-FFF2-40B4-BE49-F238E27FC236}">
                <a16:creationId xmlns:a16="http://schemas.microsoft.com/office/drawing/2014/main" id="{4888B085-9D99-1EFC-08D0-BEC4341A55AF}"/>
              </a:ext>
            </a:extLst>
          </p:cNvPr>
          <p:cNvSpPr/>
          <p:nvPr/>
        </p:nvSpPr>
        <p:spPr>
          <a:xfrm>
            <a:off x="7424724" y="2021586"/>
            <a:ext cx="2877711" cy="523220"/>
          </a:xfrm>
          <a:prstGeom prst="rect">
            <a:avLst/>
          </a:prstGeom>
        </p:spPr>
        <p:txBody>
          <a:bodyPr wrap="none">
            <a:spAutoFit/>
          </a:bodyPr>
          <a:lstStyle/>
          <a:p>
            <a:r>
              <a:rPr lang="en-US" altLang="zh-CN" sz="2800" dirty="0"/>
              <a:t>—— </a:t>
            </a:r>
            <a:r>
              <a:rPr lang="zh-CN" altLang="en-US" sz="2800" dirty="0"/>
              <a:t>为什么要做</a:t>
            </a:r>
          </a:p>
        </p:txBody>
      </p:sp>
      <p:sp>
        <p:nvSpPr>
          <p:cNvPr id="5" name="矩形 4">
            <a:extLst>
              <a:ext uri="{FF2B5EF4-FFF2-40B4-BE49-F238E27FC236}">
                <a16:creationId xmlns:a16="http://schemas.microsoft.com/office/drawing/2014/main" id="{83041A5B-8973-6420-67C1-6616AC7E1E61}"/>
              </a:ext>
            </a:extLst>
          </p:cNvPr>
          <p:cNvSpPr/>
          <p:nvPr/>
        </p:nvSpPr>
        <p:spPr>
          <a:xfrm>
            <a:off x="7424724" y="2740766"/>
            <a:ext cx="2518638" cy="523220"/>
          </a:xfrm>
          <a:prstGeom prst="rect">
            <a:avLst/>
          </a:prstGeom>
        </p:spPr>
        <p:txBody>
          <a:bodyPr wrap="none">
            <a:spAutoFit/>
          </a:bodyPr>
          <a:lstStyle/>
          <a:p>
            <a:r>
              <a:rPr lang="en-US" altLang="zh-CN" sz="2800" dirty="0"/>
              <a:t>—— </a:t>
            </a:r>
            <a:r>
              <a:rPr lang="zh-CN" altLang="en-US" sz="2800" dirty="0"/>
              <a:t>要做什么</a:t>
            </a:r>
          </a:p>
        </p:txBody>
      </p:sp>
      <p:sp>
        <p:nvSpPr>
          <p:cNvPr id="6" name="矩形 5">
            <a:extLst>
              <a:ext uri="{FF2B5EF4-FFF2-40B4-BE49-F238E27FC236}">
                <a16:creationId xmlns:a16="http://schemas.microsoft.com/office/drawing/2014/main" id="{ADC80CAD-99C1-D3FE-E5CB-3BF162C524C2}"/>
              </a:ext>
            </a:extLst>
          </p:cNvPr>
          <p:cNvSpPr/>
          <p:nvPr/>
        </p:nvSpPr>
        <p:spPr>
          <a:xfrm>
            <a:off x="7424724" y="3459946"/>
            <a:ext cx="2339102" cy="523220"/>
          </a:xfrm>
          <a:prstGeom prst="rect">
            <a:avLst/>
          </a:prstGeom>
        </p:spPr>
        <p:txBody>
          <a:bodyPr wrap="none">
            <a:spAutoFit/>
          </a:bodyPr>
          <a:lstStyle/>
          <a:p>
            <a:r>
              <a:rPr lang="en-US" altLang="zh-CN" sz="2800" dirty="0"/>
              <a:t>——</a:t>
            </a:r>
            <a:r>
              <a:rPr lang="zh-CN" altLang="en-US" sz="2800" dirty="0"/>
              <a:t>要怎么做</a:t>
            </a:r>
          </a:p>
        </p:txBody>
      </p:sp>
      <p:sp>
        <p:nvSpPr>
          <p:cNvPr id="7" name="矩形 6">
            <a:extLst>
              <a:ext uri="{FF2B5EF4-FFF2-40B4-BE49-F238E27FC236}">
                <a16:creationId xmlns:a16="http://schemas.microsoft.com/office/drawing/2014/main" id="{85EB00FC-4856-0F76-0171-C5513DF36CCF}"/>
              </a:ext>
            </a:extLst>
          </p:cNvPr>
          <p:cNvSpPr/>
          <p:nvPr/>
        </p:nvSpPr>
        <p:spPr>
          <a:xfrm>
            <a:off x="7424724" y="4179126"/>
            <a:ext cx="2339102" cy="523220"/>
          </a:xfrm>
          <a:prstGeom prst="rect">
            <a:avLst/>
          </a:prstGeom>
        </p:spPr>
        <p:txBody>
          <a:bodyPr wrap="none">
            <a:spAutoFit/>
          </a:bodyPr>
          <a:lstStyle/>
          <a:p>
            <a:r>
              <a:rPr lang="en-US" altLang="zh-CN" sz="2800" dirty="0"/>
              <a:t>——</a:t>
            </a:r>
            <a:r>
              <a:rPr lang="zh-CN" altLang="en-US" sz="2800" dirty="0"/>
              <a:t>时间安排</a:t>
            </a:r>
          </a:p>
        </p:txBody>
      </p:sp>
      <p:sp>
        <p:nvSpPr>
          <p:cNvPr id="8" name="矩形 7">
            <a:extLst>
              <a:ext uri="{FF2B5EF4-FFF2-40B4-BE49-F238E27FC236}">
                <a16:creationId xmlns:a16="http://schemas.microsoft.com/office/drawing/2014/main" id="{4B2FFDB0-837B-2C4D-C7B9-DE7959ADB293}"/>
              </a:ext>
            </a:extLst>
          </p:cNvPr>
          <p:cNvSpPr/>
          <p:nvPr/>
        </p:nvSpPr>
        <p:spPr>
          <a:xfrm>
            <a:off x="7480633" y="5587646"/>
            <a:ext cx="3096132"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zh-CN" sz="2400" dirty="0"/>
              <a:t>开题报告按要求格式填写清楚，要求</a:t>
            </a:r>
            <a:r>
              <a:rPr lang="zh-CN" altLang="zh-CN" sz="2400" dirty="0">
                <a:solidFill>
                  <a:srgbClr val="FF0000"/>
                </a:solidFill>
              </a:rPr>
              <a:t>不少于</a:t>
            </a:r>
            <a:r>
              <a:rPr lang="en-US" altLang="zh-CN" sz="2400" b="1" dirty="0">
                <a:solidFill>
                  <a:srgbClr val="FF0000"/>
                </a:solidFill>
              </a:rPr>
              <a:t>2000</a:t>
            </a:r>
            <a:r>
              <a:rPr lang="zh-CN" altLang="zh-CN" sz="2400" b="1" dirty="0">
                <a:solidFill>
                  <a:srgbClr val="FF0000"/>
                </a:solidFill>
              </a:rPr>
              <a:t>字</a:t>
            </a:r>
            <a:r>
              <a:rPr lang="zh-CN" altLang="zh-CN" sz="2400" dirty="0"/>
              <a:t>。</a:t>
            </a:r>
            <a:endParaRPr lang="zh-CN" altLang="en-US" sz="2400" dirty="0">
              <a:solidFill>
                <a:schemeClr val="dk1"/>
              </a:solidFill>
            </a:endParaRPr>
          </a:p>
        </p:txBody>
      </p:sp>
      <p:sp>
        <p:nvSpPr>
          <p:cNvPr id="9" name="文本框 8">
            <a:extLst>
              <a:ext uri="{FF2B5EF4-FFF2-40B4-BE49-F238E27FC236}">
                <a16:creationId xmlns:a16="http://schemas.microsoft.com/office/drawing/2014/main" id="{2BDF524A-3B35-B99B-EA63-9A0464F4F112}"/>
              </a:ext>
            </a:extLst>
          </p:cNvPr>
          <p:cNvSpPr txBox="1"/>
          <p:nvPr/>
        </p:nvSpPr>
        <p:spPr>
          <a:xfrm>
            <a:off x="4294208" y="511661"/>
            <a:ext cx="7141579" cy="830997"/>
          </a:xfrm>
          <a:prstGeom prst="rect">
            <a:avLst/>
          </a:prstGeom>
          <a:noFill/>
          <a:ln>
            <a:solidFill>
              <a:srgbClr val="FF0000"/>
            </a:solidFill>
          </a:ln>
        </p:spPr>
        <p:txBody>
          <a:bodyPr wrap="square" rtlCol="0">
            <a:spAutoFit/>
          </a:bodyPr>
          <a:lstStyle/>
          <a:p>
            <a:r>
              <a:rPr lang="zh-CN" altLang="en-US" sz="2400" dirty="0"/>
              <a:t>对应教学目标</a:t>
            </a:r>
            <a:r>
              <a:rPr lang="en-US" altLang="zh-CN" sz="2400" dirty="0"/>
              <a:t>1</a:t>
            </a:r>
            <a:r>
              <a:rPr lang="zh-CN" altLang="en-US" sz="2400" dirty="0"/>
              <a:t>、</a:t>
            </a:r>
            <a:r>
              <a:rPr lang="en-US" altLang="zh-CN" sz="2400" dirty="0"/>
              <a:t>2</a:t>
            </a:r>
            <a:r>
              <a:rPr lang="zh-CN" altLang="en-US" sz="2400" dirty="0"/>
              <a:t>、</a:t>
            </a:r>
            <a:r>
              <a:rPr lang="en-US" altLang="zh-CN" sz="2400" dirty="0"/>
              <a:t>5</a:t>
            </a:r>
            <a:r>
              <a:rPr lang="zh-CN" altLang="en-US" sz="2400" dirty="0"/>
              <a:t>：需求分析能力、工程与社会的工程师素养、经济成本控制与项目管理意识</a:t>
            </a:r>
          </a:p>
        </p:txBody>
      </p:sp>
    </p:spTree>
    <p:extLst>
      <p:ext uri="{BB962C8B-B14F-4D97-AF65-F5344CB8AC3E}">
        <p14:creationId xmlns:p14="http://schemas.microsoft.com/office/powerpoint/2010/main" val="3039590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D2D131-2128-1E3D-E014-CEC7666A2A5B}"/>
              </a:ext>
            </a:extLst>
          </p:cNvPr>
          <p:cNvSpPr>
            <a:spLocks noGrp="1"/>
          </p:cNvSpPr>
          <p:nvPr>
            <p:ph type="title"/>
          </p:nvPr>
        </p:nvSpPr>
        <p:spPr/>
        <p:txBody>
          <a:bodyPr/>
          <a:lstStyle/>
          <a:p>
            <a:r>
              <a:rPr lang="zh-CN" altLang="en-US" dirty="0"/>
              <a:t>开题报告评分评价要点</a:t>
            </a:r>
          </a:p>
        </p:txBody>
      </p:sp>
      <p:sp>
        <p:nvSpPr>
          <p:cNvPr id="3" name="内容占位符 2">
            <a:extLst>
              <a:ext uri="{FF2B5EF4-FFF2-40B4-BE49-F238E27FC236}">
                <a16:creationId xmlns:a16="http://schemas.microsoft.com/office/drawing/2014/main" id="{2501B107-FA0D-9980-4B56-AC66742CDB20}"/>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A85E890F-7EF3-73E5-5D52-8E76C15D78CC}"/>
              </a:ext>
            </a:extLst>
          </p:cNvPr>
          <p:cNvPicPr>
            <a:picLocks noChangeAspect="1"/>
          </p:cNvPicPr>
          <p:nvPr/>
        </p:nvPicPr>
        <p:blipFill>
          <a:blip r:embed="rId2"/>
          <a:stretch>
            <a:fillRect/>
          </a:stretch>
        </p:blipFill>
        <p:spPr>
          <a:xfrm>
            <a:off x="1771427" y="1991415"/>
            <a:ext cx="8649145" cy="4019757"/>
          </a:xfrm>
          <a:prstGeom prst="rect">
            <a:avLst/>
          </a:prstGeom>
        </p:spPr>
      </p:pic>
    </p:spTree>
    <p:extLst>
      <p:ext uri="{BB962C8B-B14F-4D97-AF65-F5344CB8AC3E}">
        <p14:creationId xmlns:p14="http://schemas.microsoft.com/office/powerpoint/2010/main" val="1913443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5BA913-C41D-FB77-B04E-AE91F57D031C}"/>
              </a:ext>
            </a:extLst>
          </p:cNvPr>
          <p:cNvSpPr>
            <a:spLocks noGrp="1"/>
          </p:cNvSpPr>
          <p:nvPr>
            <p:ph type="title"/>
          </p:nvPr>
        </p:nvSpPr>
        <p:spPr/>
        <p:txBody>
          <a:bodyPr/>
          <a:lstStyle/>
          <a:p>
            <a:r>
              <a:rPr lang="en-US" altLang="zh-CN" dirty="0"/>
              <a:t>3</a:t>
            </a:r>
            <a:r>
              <a:rPr lang="zh-CN" altLang="en-US" dirty="0"/>
              <a:t>、文献翻译</a:t>
            </a:r>
          </a:p>
        </p:txBody>
      </p:sp>
      <p:sp>
        <p:nvSpPr>
          <p:cNvPr id="3" name="内容占位符 2">
            <a:extLst>
              <a:ext uri="{FF2B5EF4-FFF2-40B4-BE49-F238E27FC236}">
                <a16:creationId xmlns:a16="http://schemas.microsoft.com/office/drawing/2014/main" id="{B726A07A-868E-D3E2-9BBF-BE7AC585F287}"/>
              </a:ext>
            </a:extLst>
          </p:cNvPr>
          <p:cNvSpPr>
            <a:spLocks noGrp="1"/>
          </p:cNvSpPr>
          <p:nvPr>
            <p:ph idx="1"/>
          </p:nvPr>
        </p:nvSpPr>
        <p:spPr/>
        <p:txBody>
          <a:bodyPr/>
          <a:lstStyle/>
          <a:p>
            <a:r>
              <a:rPr lang="zh-CN" altLang="en-US" dirty="0"/>
              <a:t>选择时新的、和毕设主题密切相关的英文文献原文</a:t>
            </a:r>
            <a:endParaRPr lang="en-US" altLang="zh-CN" dirty="0"/>
          </a:p>
          <a:p>
            <a:r>
              <a:rPr lang="zh-CN" altLang="zh-CN" dirty="0"/>
              <a:t>翻译成中文后不少于</a:t>
            </a:r>
            <a:r>
              <a:rPr lang="en-US" altLang="zh-CN" dirty="0">
                <a:solidFill>
                  <a:srgbClr val="FF0000"/>
                </a:solidFill>
              </a:rPr>
              <a:t>2000</a:t>
            </a:r>
            <a:r>
              <a:rPr lang="zh-CN" altLang="zh-CN" dirty="0">
                <a:solidFill>
                  <a:srgbClr val="FF0000"/>
                </a:solidFill>
              </a:rPr>
              <a:t>个汉字</a:t>
            </a:r>
            <a:r>
              <a:rPr lang="zh-CN" altLang="zh-CN" dirty="0"/>
              <a:t>。</a:t>
            </a:r>
            <a:endParaRPr lang="en-US" altLang="zh-CN" dirty="0"/>
          </a:p>
          <a:p>
            <a:r>
              <a:rPr lang="zh-CN" altLang="en-US" dirty="0"/>
              <a:t>不完全依赖于</a:t>
            </a:r>
            <a:r>
              <a:rPr lang="en-US" altLang="zh-CN" dirty="0"/>
              <a:t>AI</a:t>
            </a:r>
            <a:r>
              <a:rPr lang="zh-CN" altLang="en-US" dirty="0"/>
              <a:t>翻译</a:t>
            </a:r>
            <a:endParaRPr lang="en-US" altLang="zh-CN" dirty="0"/>
          </a:p>
          <a:p>
            <a:endParaRPr lang="zh-CN" altLang="en-US" dirty="0"/>
          </a:p>
        </p:txBody>
      </p:sp>
      <p:sp>
        <p:nvSpPr>
          <p:cNvPr id="4" name="文本框 3">
            <a:extLst>
              <a:ext uri="{FF2B5EF4-FFF2-40B4-BE49-F238E27FC236}">
                <a16:creationId xmlns:a16="http://schemas.microsoft.com/office/drawing/2014/main" id="{B609739D-8157-C163-3AB8-3B76B05F8BC7}"/>
              </a:ext>
            </a:extLst>
          </p:cNvPr>
          <p:cNvSpPr txBox="1"/>
          <p:nvPr/>
        </p:nvSpPr>
        <p:spPr>
          <a:xfrm>
            <a:off x="1013460" y="3429000"/>
            <a:ext cx="7620000" cy="523220"/>
          </a:xfrm>
          <a:prstGeom prst="rect">
            <a:avLst/>
          </a:prstGeom>
          <a:noFill/>
          <a:ln>
            <a:solidFill>
              <a:srgbClr val="FF0000"/>
            </a:solidFill>
          </a:ln>
        </p:spPr>
        <p:txBody>
          <a:bodyPr wrap="square" rtlCol="0">
            <a:spAutoFit/>
          </a:bodyPr>
          <a:lstStyle/>
          <a:p>
            <a:r>
              <a:rPr lang="zh-CN" altLang="en-US" sz="2800" dirty="0"/>
              <a:t>对应教学目标</a:t>
            </a:r>
            <a:r>
              <a:rPr lang="en-US" altLang="zh-CN" sz="2800" dirty="0"/>
              <a:t>6</a:t>
            </a:r>
            <a:r>
              <a:rPr lang="zh-CN" altLang="en-US" sz="2800" dirty="0"/>
              <a:t>：文献阅读、翻译撰写能力</a:t>
            </a:r>
          </a:p>
        </p:txBody>
      </p:sp>
    </p:spTree>
    <p:extLst>
      <p:ext uri="{BB962C8B-B14F-4D97-AF65-F5344CB8AC3E}">
        <p14:creationId xmlns:p14="http://schemas.microsoft.com/office/powerpoint/2010/main" val="3261449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1E7B6A-64F3-166E-2B32-415E992219F1}"/>
              </a:ext>
            </a:extLst>
          </p:cNvPr>
          <p:cNvSpPr>
            <a:spLocks noGrp="1"/>
          </p:cNvSpPr>
          <p:nvPr>
            <p:ph type="title"/>
          </p:nvPr>
        </p:nvSpPr>
        <p:spPr/>
        <p:txBody>
          <a:bodyPr/>
          <a:lstStyle/>
          <a:p>
            <a:r>
              <a:rPr lang="zh-CN" altLang="en-US" dirty="0"/>
              <a:t>文献翻译评分评价要点</a:t>
            </a:r>
          </a:p>
        </p:txBody>
      </p:sp>
      <p:sp>
        <p:nvSpPr>
          <p:cNvPr id="3" name="内容占位符 2">
            <a:extLst>
              <a:ext uri="{FF2B5EF4-FFF2-40B4-BE49-F238E27FC236}">
                <a16:creationId xmlns:a16="http://schemas.microsoft.com/office/drawing/2014/main" id="{70AC1E5D-06A5-7456-780E-0BB111ADFD93}"/>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0E305FFB-ADE1-9C1B-55A4-15A99C5243DA}"/>
              </a:ext>
            </a:extLst>
          </p:cNvPr>
          <p:cNvPicPr>
            <a:picLocks noChangeAspect="1"/>
          </p:cNvPicPr>
          <p:nvPr/>
        </p:nvPicPr>
        <p:blipFill>
          <a:blip r:embed="rId2"/>
          <a:stretch>
            <a:fillRect/>
          </a:stretch>
        </p:blipFill>
        <p:spPr>
          <a:xfrm>
            <a:off x="1761902" y="2990827"/>
            <a:ext cx="8668195" cy="876345"/>
          </a:xfrm>
          <a:prstGeom prst="rect">
            <a:avLst/>
          </a:prstGeom>
        </p:spPr>
      </p:pic>
    </p:spTree>
    <p:extLst>
      <p:ext uri="{BB962C8B-B14F-4D97-AF65-F5344CB8AC3E}">
        <p14:creationId xmlns:p14="http://schemas.microsoft.com/office/powerpoint/2010/main" val="3312539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366F35-E210-DBA8-59FE-F8B23ACFBE27}"/>
              </a:ext>
            </a:extLst>
          </p:cNvPr>
          <p:cNvSpPr>
            <a:spLocks noGrp="1"/>
          </p:cNvSpPr>
          <p:nvPr>
            <p:ph type="title"/>
          </p:nvPr>
        </p:nvSpPr>
        <p:spPr/>
        <p:txBody>
          <a:bodyPr/>
          <a:lstStyle/>
          <a:p>
            <a:r>
              <a:rPr lang="en-US" altLang="zh-CN" dirty="0"/>
              <a:t>4</a:t>
            </a:r>
            <a:r>
              <a:rPr lang="zh-CN" altLang="en-US" dirty="0"/>
              <a:t>、文献综述（</a:t>
            </a:r>
            <a:r>
              <a:rPr lang="zh-CN" altLang="en-US" dirty="0">
                <a:solidFill>
                  <a:srgbClr val="0070C0"/>
                </a:solidFill>
              </a:rPr>
              <a:t>科研课题</a:t>
            </a:r>
            <a:r>
              <a:rPr lang="zh-CN" altLang="en-US" dirty="0"/>
              <a:t>类）</a:t>
            </a:r>
          </a:p>
        </p:txBody>
      </p:sp>
      <p:sp>
        <p:nvSpPr>
          <p:cNvPr id="4" name="矩形 3">
            <a:extLst>
              <a:ext uri="{FF2B5EF4-FFF2-40B4-BE49-F238E27FC236}">
                <a16:creationId xmlns:a16="http://schemas.microsoft.com/office/drawing/2014/main" id="{C3657917-D8FF-BD8D-9CBF-E50605E15EE7}"/>
              </a:ext>
            </a:extLst>
          </p:cNvPr>
          <p:cNvSpPr/>
          <p:nvPr/>
        </p:nvSpPr>
        <p:spPr>
          <a:xfrm>
            <a:off x="838200" y="1690688"/>
            <a:ext cx="10693694" cy="255454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zh-CN" sz="3200" dirty="0"/>
              <a:t>针对</a:t>
            </a:r>
            <a:r>
              <a:rPr lang="zh-CN" altLang="en-US" sz="3200" dirty="0"/>
              <a:t>毕设课题所在</a:t>
            </a:r>
            <a:r>
              <a:rPr lang="zh-CN" altLang="zh-CN" sz="3200" dirty="0"/>
              <a:t>领域或专题</a:t>
            </a:r>
            <a:r>
              <a:rPr lang="zh-CN" altLang="en-US" sz="3200" dirty="0"/>
              <a:t>，在</a:t>
            </a:r>
            <a:r>
              <a:rPr lang="zh-CN" altLang="zh-CN" sz="3200" dirty="0"/>
              <a:t>搜集大量文献资料的基础上，就国内外在该领域或专题的主要研究成果、最新进展、研究动态、前沿问题等进行综合分析而写成的、能比较全面地反映相关领域或专题历史背景、前人工作、争论焦点、研究现状和发展前景等内容的综述性文章。</a:t>
            </a:r>
            <a:endParaRPr lang="en-US" altLang="zh-CN" sz="3200" dirty="0"/>
          </a:p>
        </p:txBody>
      </p:sp>
      <p:sp>
        <p:nvSpPr>
          <p:cNvPr id="5" name="矩形 4">
            <a:extLst>
              <a:ext uri="{FF2B5EF4-FFF2-40B4-BE49-F238E27FC236}">
                <a16:creationId xmlns:a16="http://schemas.microsoft.com/office/drawing/2014/main" id="{E46377AF-E77C-E766-643F-120E35185512}"/>
              </a:ext>
            </a:extLst>
          </p:cNvPr>
          <p:cNvSpPr/>
          <p:nvPr/>
        </p:nvSpPr>
        <p:spPr>
          <a:xfrm>
            <a:off x="838200" y="4441239"/>
            <a:ext cx="10693694" cy="156966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zh-CN" sz="3200" dirty="0">
                <a:solidFill>
                  <a:schemeClr val="dk1"/>
                </a:solidFill>
              </a:rPr>
              <a:t>是在对文献进行阅读、选择、比较、分类、分析和综合的基础上，研究者</a:t>
            </a:r>
            <a:r>
              <a:rPr lang="zh-CN" altLang="zh-CN" sz="3200" dirty="0">
                <a:solidFill>
                  <a:srgbClr val="FF0000"/>
                </a:solidFill>
              </a:rPr>
              <a:t>用自己的语言</a:t>
            </a:r>
            <a:r>
              <a:rPr lang="zh-CN" altLang="zh-CN" sz="3200" dirty="0">
                <a:solidFill>
                  <a:schemeClr val="dk1"/>
                </a:solidFill>
              </a:rPr>
              <a:t>对某一问题的研究状况进行</a:t>
            </a:r>
            <a:r>
              <a:rPr lang="zh-CN" altLang="zh-CN" sz="3200" dirty="0">
                <a:solidFill>
                  <a:srgbClr val="FF0000"/>
                </a:solidFill>
              </a:rPr>
              <a:t>综合叙述</a:t>
            </a:r>
            <a:r>
              <a:rPr lang="zh-CN" altLang="zh-CN" sz="3200" dirty="0">
                <a:solidFill>
                  <a:schemeClr val="dk1"/>
                </a:solidFill>
              </a:rPr>
              <a:t>的情报研究成果。</a:t>
            </a:r>
            <a:endParaRPr lang="zh-CN" altLang="en-US" sz="3200" dirty="0">
              <a:solidFill>
                <a:schemeClr val="dk1"/>
              </a:solidFill>
            </a:endParaRPr>
          </a:p>
        </p:txBody>
      </p:sp>
    </p:spTree>
    <p:extLst>
      <p:ext uri="{BB962C8B-B14F-4D97-AF65-F5344CB8AC3E}">
        <p14:creationId xmlns:p14="http://schemas.microsoft.com/office/powerpoint/2010/main" val="2813046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B32A6-A138-73E1-ED78-5EB1BB7E675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F95052A-26C0-6BAB-A75B-513D1629EAE8}"/>
              </a:ext>
            </a:extLst>
          </p:cNvPr>
          <p:cNvSpPr>
            <a:spLocks noGrp="1"/>
          </p:cNvSpPr>
          <p:nvPr>
            <p:ph type="title"/>
          </p:nvPr>
        </p:nvSpPr>
        <p:spPr/>
        <p:txBody>
          <a:bodyPr/>
          <a:lstStyle/>
          <a:p>
            <a:r>
              <a:rPr lang="en-US" altLang="zh-CN" dirty="0"/>
              <a:t>4</a:t>
            </a:r>
            <a:r>
              <a:rPr lang="zh-CN" altLang="en-US" dirty="0"/>
              <a:t>、文献综述（</a:t>
            </a:r>
            <a:r>
              <a:rPr lang="zh-CN" altLang="en-US" dirty="0">
                <a:solidFill>
                  <a:srgbClr val="FF0000"/>
                </a:solidFill>
              </a:rPr>
              <a:t>工程项目</a:t>
            </a:r>
            <a:r>
              <a:rPr lang="zh-CN" altLang="en-US" dirty="0"/>
              <a:t>类）</a:t>
            </a:r>
          </a:p>
        </p:txBody>
      </p:sp>
      <p:sp>
        <p:nvSpPr>
          <p:cNvPr id="4" name="矩形 3">
            <a:extLst>
              <a:ext uri="{FF2B5EF4-FFF2-40B4-BE49-F238E27FC236}">
                <a16:creationId xmlns:a16="http://schemas.microsoft.com/office/drawing/2014/main" id="{61549216-0034-093F-6C4B-FC9CA24FBEE4}"/>
              </a:ext>
            </a:extLst>
          </p:cNvPr>
          <p:cNvSpPr/>
          <p:nvPr/>
        </p:nvSpPr>
        <p:spPr>
          <a:xfrm>
            <a:off x="838200" y="1690688"/>
            <a:ext cx="10693694" cy="255454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sz="3200" dirty="0"/>
              <a:t>针对毕业设计所选定的工程项目课题，在广泛搜集相关技术标准、设计方案、工程案例及学术文献的基础上，就国内外在该工程领域或技术方向上的​​主流技术路线、关键技术瓶颈、典型解决方案、实际应用案例与发展趋势​​进行系统性的梳理、比较与分析</a:t>
            </a:r>
            <a:r>
              <a:rPr lang="zh-CN" altLang="zh-CN" sz="3200" dirty="0"/>
              <a:t>。</a:t>
            </a:r>
            <a:endParaRPr lang="en-US" altLang="zh-CN" sz="3200" dirty="0"/>
          </a:p>
        </p:txBody>
      </p:sp>
      <p:sp>
        <p:nvSpPr>
          <p:cNvPr id="5" name="矩形 4">
            <a:extLst>
              <a:ext uri="{FF2B5EF4-FFF2-40B4-BE49-F238E27FC236}">
                <a16:creationId xmlns:a16="http://schemas.microsoft.com/office/drawing/2014/main" id="{0A583ED6-C5AF-AEC0-008E-BC3F7D9D8064}"/>
              </a:ext>
            </a:extLst>
          </p:cNvPr>
          <p:cNvSpPr/>
          <p:nvPr/>
        </p:nvSpPr>
        <p:spPr>
          <a:xfrm>
            <a:off x="838200" y="4441239"/>
            <a:ext cx="10693694" cy="156966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zh-CN" sz="3200" dirty="0">
                <a:solidFill>
                  <a:schemeClr val="dk1"/>
                </a:solidFill>
              </a:rPr>
              <a:t>是在对文献进行阅读、选择、比较、分类、分析和综合的基础上，研究者</a:t>
            </a:r>
            <a:r>
              <a:rPr lang="zh-CN" altLang="zh-CN" sz="3200" dirty="0">
                <a:solidFill>
                  <a:srgbClr val="FF0000"/>
                </a:solidFill>
              </a:rPr>
              <a:t>用自己的语言</a:t>
            </a:r>
            <a:r>
              <a:rPr lang="zh-CN" altLang="zh-CN" sz="3200" dirty="0">
                <a:solidFill>
                  <a:schemeClr val="dk1"/>
                </a:solidFill>
              </a:rPr>
              <a:t>对某一问题的研究状况进行</a:t>
            </a:r>
            <a:r>
              <a:rPr lang="zh-CN" altLang="zh-CN" sz="3200" dirty="0">
                <a:solidFill>
                  <a:srgbClr val="FF0000"/>
                </a:solidFill>
              </a:rPr>
              <a:t>综合叙述</a:t>
            </a:r>
            <a:r>
              <a:rPr lang="zh-CN" altLang="zh-CN" sz="3200" dirty="0">
                <a:solidFill>
                  <a:schemeClr val="dk1"/>
                </a:solidFill>
              </a:rPr>
              <a:t>的情报研究成果。</a:t>
            </a:r>
            <a:endParaRPr lang="zh-CN" altLang="en-US" sz="3200" dirty="0">
              <a:solidFill>
                <a:schemeClr val="dk1"/>
              </a:solidFill>
            </a:endParaRPr>
          </a:p>
        </p:txBody>
      </p:sp>
    </p:spTree>
    <p:extLst>
      <p:ext uri="{BB962C8B-B14F-4D97-AF65-F5344CB8AC3E}">
        <p14:creationId xmlns:p14="http://schemas.microsoft.com/office/powerpoint/2010/main" val="2995747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384A43-0A8A-631B-0DA8-798420979CA1}"/>
              </a:ext>
            </a:extLst>
          </p:cNvPr>
          <p:cNvSpPr>
            <a:spLocks noGrp="1"/>
          </p:cNvSpPr>
          <p:nvPr>
            <p:ph type="title"/>
          </p:nvPr>
        </p:nvSpPr>
        <p:spPr/>
        <p:txBody>
          <a:bodyPr/>
          <a:lstStyle/>
          <a:p>
            <a:r>
              <a:rPr lang="en-US" altLang="zh-CN" dirty="0"/>
              <a:t>4</a:t>
            </a:r>
            <a:r>
              <a:rPr lang="zh-CN" altLang="en-US" dirty="0"/>
              <a:t>、文献综述</a:t>
            </a:r>
          </a:p>
        </p:txBody>
      </p:sp>
      <p:sp>
        <p:nvSpPr>
          <p:cNvPr id="3" name="内容占位符 2">
            <a:extLst>
              <a:ext uri="{FF2B5EF4-FFF2-40B4-BE49-F238E27FC236}">
                <a16:creationId xmlns:a16="http://schemas.microsoft.com/office/drawing/2014/main" id="{0A55858E-BB80-98C7-0301-BDBD5C4FA726}"/>
              </a:ext>
            </a:extLst>
          </p:cNvPr>
          <p:cNvSpPr>
            <a:spLocks noGrp="1"/>
          </p:cNvSpPr>
          <p:nvPr>
            <p:ph idx="1"/>
          </p:nvPr>
        </p:nvSpPr>
        <p:spPr/>
        <p:txBody>
          <a:bodyPr/>
          <a:lstStyle/>
          <a:p>
            <a:r>
              <a:rPr lang="zh-CN" altLang="en-US" dirty="0">
                <a:latin typeface="Times New Roman" panose="02020603050405020304" pitchFamily="18" charset="0"/>
                <a:cs typeface="Times New Roman" panose="02020603050405020304" pitchFamily="18" charset="0"/>
              </a:rPr>
              <a:t>注意事项</a:t>
            </a:r>
            <a:endParaRPr lang="en-US" altLang="zh-CN" dirty="0">
              <a:latin typeface="Times New Roman" panose="02020603050405020304" pitchFamily="18" charset="0"/>
              <a:cs typeface="Times New Roman" panose="02020603050405020304" pitchFamily="18" charset="0"/>
            </a:endParaRPr>
          </a:p>
          <a:p>
            <a:pPr lvl="1"/>
            <a:r>
              <a:rPr lang="zh-CN" altLang="zh-CN" dirty="0">
                <a:latin typeface="Times New Roman" panose="02020603050405020304" pitchFamily="18" charset="0"/>
                <a:cs typeface="Times New Roman" panose="02020603050405020304" pitchFamily="18" charset="0"/>
              </a:rPr>
              <a:t>文献综述包括</a:t>
            </a:r>
            <a:r>
              <a:rPr lang="zh-CN" altLang="zh-CN" dirty="0">
                <a:solidFill>
                  <a:srgbClr val="FF0000"/>
                </a:solidFill>
                <a:latin typeface="Times New Roman" panose="02020603050405020304" pitchFamily="18" charset="0"/>
                <a:cs typeface="Times New Roman" panose="02020603050405020304" pitchFamily="18" charset="0"/>
              </a:rPr>
              <a:t>综合提炼</a:t>
            </a:r>
            <a:r>
              <a:rPr lang="zh-CN" altLang="zh-CN" dirty="0">
                <a:latin typeface="Times New Roman" panose="02020603050405020304" pitchFamily="18" charset="0"/>
                <a:cs typeface="Times New Roman" panose="02020603050405020304" pitchFamily="18" charset="0"/>
              </a:rPr>
              <a:t>和</a:t>
            </a:r>
            <a:r>
              <a:rPr lang="zh-CN" altLang="zh-CN" dirty="0">
                <a:solidFill>
                  <a:srgbClr val="00B050"/>
                </a:solidFill>
                <a:latin typeface="Times New Roman" panose="02020603050405020304" pitchFamily="18" charset="0"/>
                <a:cs typeface="Times New Roman" panose="02020603050405020304" pitchFamily="18" charset="0"/>
              </a:rPr>
              <a:t>分析评论</a:t>
            </a:r>
            <a:r>
              <a:rPr lang="zh-CN" altLang="zh-CN" dirty="0">
                <a:latin typeface="Times New Roman" panose="02020603050405020304" pitchFamily="18" charset="0"/>
                <a:cs typeface="Times New Roman" panose="02020603050405020304" pitchFamily="18" charset="0"/>
              </a:rPr>
              <a:t>双重含义。</a:t>
            </a:r>
          </a:p>
          <a:p>
            <a:pPr lvl="1"/>
            <a:r>
              <a:rPr lang="zh-CN" altLang="zh-CN" dirty="0">
                <a:latin typeface="Times New Roman" panose="02020603050405020304" pitchFamily="18" charset="0"/>
                <a:cs typeface="Times New Roman" panose="02020603050405020304" pitchFamily="18" charset="0"/>
              </a:rPr>
              <a:t>要用自己的语言把作者的观点说清楚，从原始文献中得出一般性结论。</a:t>
            </a:r>
          </a:p>
          <a:p>
            <a:pPr lvl="1"/>
            <a:r>
              <a:rPr lang="zh-CN" altLang="zh-CN" dirty="0">
                <a:latin typeface="Times New Roman" panose="02020603050405020304" pitchFamily="18" charset="0"/>
                <a:cs typeface="Times New Roman" panose="02020603050405020304" pitchFamily="18" charset="0"/>
              </a:rPr>
              <a:t>确保所述的已有研究成果</a:t>
            </a:r>
            <a:r>
              <a:rPr lang="zh-CN" altLang="en-US" dirty="0">
                <a:latin typeface="Times New Roman" panose="02020603050405020304" pitchFamily="18" charset="0"/>
                <a:cs typeface="Times New Roman" panose="02020603050405020304" pitchFamily="18" charset="0"/>
              </a:rPr>
              <a:t>或技术方案</a:t>
            </a:r>
            <a:r>
              <a:rPr lang="zh-CN" altLang="zh-CN" dirty="0">
                <a:latin typeface="Times New Roman" panose="02020603050405020304" pitchFamily="18" charset="0"/>
                <a:cs typeface="Times New Roman" panose="02020603050405020304" pitchFamily="18" charset="0"/>
              </a:rPr>
              <a:t>与</a:t>
            </a:r>
            <a:r>
              <a:rPr lang="zh-CN" altLang="en-US" dirty="0">
                <a:latin typeface="Times New Roman" panose="02020603050405020304" pitchFamily="18" charset="0"/>
                <a:cs typeface="Times New Roman" panose="02020603050405020304" pitchFamily="18" charset="0"/>
              </a:rPr>
              <a:t>自己的毕业设计课题</a:t>
            </a:r>
            <a:r>
              <a:rPr lang="zh-CN" altLang="zh-CN" dirty="0">
                <a:latin typeface="Times New Roman" panose="02020603050405020304" pitchFamily="18" charset="0"/>
                <a:cs typeface="Times New Roman" panose="02020603050405020304" pitchFamily="18" charset="0"/>
              </a:rPr>
              <a:t>直接相关</a:t>
            </a:r>
            <a:r>
              <a:rPr lang="zh-CN" altLang="en-US"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lvl="1"/>
            <a:r>
              <a:rPr lang="zh-CN" altLang="zh-CN" dirty="0">
                <a:latin typeface="Times New Roman" panose="02020603050405020304" pitchFamily="18" charset="0"/>
                <a:cs typeface="Times New Roman" panose="02020603050405020304" pitchFamily="18" charset="0"/>
              </a:rPr>
              <a:t>论据最好来自一次文献，尽量避免使用别人对原始文献的解释或综述。</a:t>
            </a:r>
            <a:endParaRPr lang="en-US"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应查阅相关</a:t>
            </a:r>
            <a:r>
              <a:rPr lang="zh-CN" altLang="en-US" dirty="0">
                <a:solidFill>
                  <a:srgbClr val="FF0000"/>
                </a:solidFill>
                <a:latin typeface="Times New Roman" panose="02020603050405020304" pitchFamily="18" charset="0"/>
                <a:cs typeface="Times New Roman" panose="02020603050405020304" pitchFamily="18" charset="0"/>
              </a:rPr>
              <a:t>文献</a:t>
            </a:r>
            <a:r>
              <a:rPr lang="en-US" altLang="zh-CN" dirty="0">
                <a:solidFill>
                  <a:srgbClr val="FF0000"/>
                </a:solidFill>
                <a:latin typeface="Times New Roman" panose="02020603050405020304" pitchFamily="18" charset="0"/>
                <a:cs typeface="Times New Roman" panose="02020603050405020304" pitchFamily="18" charset="0"/>
              </a:rPr>
              <a:t>20</a:t>
            </a:r>
            <a:r>
              <a:rPr lang="zh-CN" altLang="en-US" dirty="0">
                <a:solidFill>
                  <a:srgbClr val="FF0000"/>
                </a:solidFill>
                <a:latin typeface="Times New Roman" panose="02020603050405020304" pitchFamily="18" charset="0"/>
                <a:cs typeface="Times New Roman" panose="02020603050405020304" pitchFamily="18" charset="0"/>
              </a:rPr>
              <a:t>篇</a:t>
            </a:r>
            <a:r>
              <a:rPr lang="en-US" altLang="zh-CN" dirty="0">
                <a:solidFill>
                  <a:srgbClr val="FF0000"/>
                </a:solidFill>
                <a:latin typeface="Times New Roman" panose="02020603050405020304" pitchFamily="18" charset="0"/>
                <a:cs typeface="Times New Roman" panose="02020603050405020304" pitchFamily="18" charset="0"/>
              </a:rPr>
              <a:t>(</a:t>
            </a:r>
            <a:r>
              <a:rPr lang="zh-CN" altLang="en-US" dirty="0">
                <a:solidFill>
                  <a:srgbClr val="FF0000"/>
                </a:solidFill>
                <a:latin typeface="Times New Roman" panose="02020603050405020304" pitchFamily="18" charset="0"/>
                <a:cs typeface="Times New Roman" panose="02020603050405020304" pitchFamily="18" charset="0"/>
              </a:rPr>
              <a:t>含网站链接等</a:t>
            </a:r>
            <a:r>
              <a:rPr lang="en-US" altLang="zh-CN" dirty="0">
                <a:solidFill>
                  <a:srgbClr val="FF0000"/>
                </a:solidFill>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以上</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其中</a:t>
            </a:r>
            <a:r>
              <a:rPr lang="zh-CN" altLang="en-US" dirty="0">
                <a:solidFill>
                  <a:srgbClr val="FF0000"/>
                </a:solidFill>
                <a:latin typeface="Times New Roman" panose="02020603050405020304" pitchFamily="18" charset="0"/>
                <a:cs typeface="Times New Roman" panose="02020603050405020304" pitchFamily="18" charset="0"/>
              </a:rPr>
              <a:t>外文文献</a:t>
            </a:r>
            <a:r>
              <a:rPr lang="en-US" altLang="zh-CN" dirty="0">
                <a:solidFill>
                  <a:srgbClr val="FF0000"/>
                </a:solidFill>
                <a:latin typeface="Times New Roman" panose="02020603050405020304" pitchFamily="18" charset="0"/>
                <a:cs typeface="Times New Roman" panose="02020603050405020304" pitchFamily="18" charset="0"/>
              </a:rPr>
              <a:t>5</a:t>
            </a:r>
            <a:r>
              <a:rPr lang="zh-CN" altLang="en-US" dirty="0">
                <a:solidFill>
                  <a:srgbClr val="FF0000"/>
                </a:solidFill>
                <a:latin typeface="Times New Roman" panose="02020603050405020304" pitchFamily="18" charset="0"/>
                <a:cs typeface="Times New Roman" panose="02020603050405020304" pitchFamily="18" charset="0"/>
              </a:rPr>
              <a:t>篇</a:t>
            </a:r>
            <a:r>
              <a:rPr lang="zh-CN" altLang="en-US" dirty="0">
                <a:latin typeface="Times New Roman" panose="02020603050405020304" pitchFamily="18" charset="0"/>
                <a:cs typeface="Times New Roman" panose="02020603050405020304" pitchFamily="18" charset="0"/>
              </a:rPr>
              <a:t>以上、近</a:t>
            </a:r>
            <a:r>
              <a:rPr lang="en-US" altLang="zh-CN" dirty="0">
                <a:latin typeface="Times New Roman" panose="02020603050405020304" pitchFamily="18" charset="0"/>
                <a:cs typeface="Times New Roman" panose="02020603050405020304" pitchFamily="18" charset="0"/>
              </a:rPr>
              <a:t>5</a:t>
            </a:r>
            <a:r>
              <a:rPr lang="zh-CN" altLang="en-US" dirty="0">
                <a:latin typeface="Times New Roman" panose="02020603050405020304" pitchFamily="18" charset="0"/>
                <a:cs typeface="Times New Roman" panose="02020603050405020304" pitchFamily="18" charset="0"/>
              </a:rPr>
              <a:t>年文献</a:t>
            </a:r>
            <a:r>
              <a:rPr lang="en-US" altLang="zh-CN" dirty="0">
                <a:latin typeface="Times New Roman" panose="02020603050405020304" pitchFamily="18" charset="0"/>
                <a:cs typeface="Times New Roman" panose="02020603050405020304" pitchFamily="18" charset="0"/>
              </a:rPr>
              <a:t>70%</a:t>
            </a:r>
            <a:r>
              <a:rPr lang="zh-CN" altLang="en-US" dirty="0">
                <a:latin typeface="Times New Roman" panose="02020603050405020304" pitchFamily="18" charset="0"/>
                <a:cs typeface="Times New Roman" panose="02020603050405020304" pitchFamily="18" charset="0"/>
              </a:rPr>
              <a:t>以上</a:t>
            </a:r>
            <a:r>
              <a:rPr lang="en-US" altLang="zh-CN">
                <a:latin typeface="Times New Roman" panose="02020603050405020304" pitchFamily="18" charset="0"/>
                <a:cs typeface="Times New Roman" panose="02020603050405020304" pitchFamily="18" charset="0"/>
              </a:rPr>
              <a:t>)</a:t>
            </a:r>
            <a:r>
              <a:rPr lang="zh-CN" altLang="en-US">
                <a:latin typeface="Times New Roman" panose="02020603050405020304" pitchFamily="18" charset="0"/>
                <a:cs typeface="Times New Roman" panose="02020603050405020304" pitchFamily="18" charset="0"/>
              </a:rPr>
              <a:t>来</a:t>
            </a:r>
            <a:r>
              <a:rPr lang="zh-CN" altLang="en-US" dirty="0">
                <a:latin typeface="Times New Roman" panose="02020603050405020304" pitchFamily="18" charset="0"/>
                <a:cs typeface="Times New Roman" panose="02020603050405020304" pitchFamily="18" charset="0"/>
              </a:rPr>
              <a:t>完成毕业课题的文献综述，</a:t>
            </a:r>
            <a:r>
              <a:rPr lang="zh-CN" altLang="en-US" dirty="0">
                <a:solidFill>
                  <a:srgbClr val="FF0000"/>
                </a:solidFill>
                <a:latin typeface="Times New Roman" panose="02020603050405020304" pitchFamily="18" charset="0"/>
                <a:cs typeface="Times New Roman" panose="02020603050405020304" pitchFamily="18" charset="0"/>
              </a:rPr>
              <a:t>字数不少于</a:t>
            </a:r>
            <a:r>
              <a:rPr lang="en-US" altLang="zh-CN" dirty="0">
                <a:solidFill>
                  <a:srgbClr val="FF0000"/>
                </a:solidFill>
                <a:latin typeface="Times New Roman" panose="02020603050405020304" pitchFamily="18" charset="0"/>
                <a:cs typeface="Times New Roman" panose="02020603050405020304" pitchFamily="18" charset="0"/>
              </a:rPr>
              <a:t>2000</a:t>
            </a:r>
            <a:r>
              <a:rPr lang="zh-CN" altLang="en-US" dirty="0">
                <a:latin typeface="Times New Roman" panose="02020603050405020304" pitchFamily="18" charset="0"/>
                <a:cs typeface="Times New Roman" panose="02020603050405020304" pitchFamily="18" charset="0"/>
              </a:rPr>
              <a:t>字。</a:t>
            </a:r>
            <a:endParaRPr lang="en-US"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文献要新 </a:t>
            </a:r>
            <a:r>
              <a:rPr lang="en-US" altLang="zh-CN" dirty="0">
                <a:latin typeface="Times New Roman" panose="02020603050405020304" pitchFamily="18" charset="0"/>
                <a:cs typeface="Times New Roman" panose="02020603050405020304" pitchFamily="18" charset="0"/>
              </a:rPr>
              <a:t>—— lib.wzu.edu.cn</a:t>
            </a:r>
            <a:r>
              <a:rPr lang="zh-CN" altLang="en-US" dirty="0">
                <a:latin typeface="Times New Roman" panose="02020603050405020304" pitchFamily="18" charset="0"/>
                <a:cs typeface="Times New Roman" panose="02020603050405020304" pitchFamily="18" charset="0"/>
              </a:rPr>
              <a:t>，</a:t>
            </a:r>
            <a:r>
              <a:rPr lang="zh-CN" altLang="en-US" dirty="0">
                <a:solidFill>
                  <a:srgbClr val="FF0000"/>
                </a:solidFill>
                <a:latin typeface="Times New Roman" panose="02020603050405020304" pitchFamily="18" charset="0"/>
                <a:cs typeface="Times New Roman" panose="02020603050405020304" pitchFamily="18" charset="0"/>
              </a:rPr>
              <a:t>所有参考文献</a:t>
            </a:r>
            <a:r>
              <a:rPr lang="zh-CN" altLang="en-US" dirty="0">
                <a:latin typeface="Times New Roman" panose="02020603050405020304" pitchFamily="18" charset="0"/>
                <a:cs typeface="Times New Roman" panose="02020603050405020304" pitchFamily="18" charset="0"/>
              </a:rPr>
              <a:t>都必须在文献综述的正文中</a:t>
            </a:r>
            <a:r>
              <a:rPr lang="zh-CN" altLang="en-US" dirty="0">
                <a:solidFill>
                  <a:srgbClr val="FF0000"/>
                </a:solidFill>
                <a:latin typeface="Times New Roman" panose="02020603050405020304" pitchFamily="18" charset="0"/>
                <a:cs typeface="Times New Roman" panose="02020603050405020304" pitchFamily="18" charset="0"/>
              </a:rPr>
              <a:t>被引用</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3E05BECA-550B-62D4-D1A1-193773032328}"/>
              </a:ext>
            </a:extLst>
          </p:cNvPr>
          <p:cNvSpPr txBox="1"/>
          <p:nvPr/>
        </p:nvSpPr>
        <p:spPr>
          <a:xfrm>
            <a:off x="838200" y="5653743"/>
            <a:ext cx="10515600" cy="523220"/>
          </a:xfrm>
          <a:prstGeom prst="rect">
            <a:avLst/>
          </a:prstGeom>
          <a:noFill/>
          <a:ln>
            <a:solidFill>
              <a:srgbClr val="FF0000"/>
            </a:solidFill>
          </a:ln>
        </p:spPr>
        <p:txBody>
          <a:bodyPr wrap="square" rtlCol="0">
            <a:spAutoFit/>
          </a:bodyPr>
          <a:lstStyle/>
          <a:p>
            <a:r>
              <a:rPr lang="zh-CN" altLang="en-US" sz="2800" dirty="0"/>
              <a:t>对应教学目标</a:t>
            </a:r>
            <a:r>
              <a:rPr lang="en-US" altLang="zh-CN" sz="2800" dirty="0"/>
              <a:t>6</a:t>
            </a:r>
            <a:r>
              <a:rPr lang="zh-CN" altLang="en-US" sz="2800" dirty="0"/>
              <a:t>和</a:t>
            </a:r>
            <a:r>
              <a:rPr lang="en-US" altLang="zh-CN" sz="2800" dirty="0"/>
              <a:t>7</a:t>
            </a:r>
            <a:r>
              <a:rPr lang="zh-CN" altLang="en-US" sz="2800" dirty="0"/>
              <a:t>：文献阅读能力、归纳总结和撰写能力</a:t>
            </a:r>
          </a:p>
        </p:txBody>
      </p:sp>
    </p:spTree>
    <p:extLst>
      <p:ext uri="{BB962C8B-B14F-4D97-AF65-F5344CB8AC3E}">
        <p14:creationId xmlns:p14="http://schemas.microsoft.com/office/powerpoint/2010/main" val="2693594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786B1E-C244-2EF0-E0B9-D44655A2A69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255CCDA-3A23-580C-592D-0EAE5DEBF32D}"/>
              </a:ext>
            </a:extLst>
          </p:cNvPr>
          <p:cNvSpPr>
            <a:spLocks noGrp="1"/>
          </p:cNvSpPr>
          <p:nvPr>
            <p:ph idx="1"/>
          </p:nvPr>
        </p:nvSpPr>
        <p:spPr/>
        <p:txBody>
          <a:bodyPr/>
          <a:lstStyle/>
          <a:p>
            <a:endParaRPr lang="zh-CN" altLang="en-US" dirty="0"/>
          </a:p>
        </p:txBody>
      </p:sp>
      <p:pic>
        <p:nvPicPr>
          <p:cNvPr id="5" name="图片 4">
            <a:extLst>
              <a:ext uri="{FF2B5EF4-FFF2-40B4-BE49-F238E27FC236}">
                <a16:creationId xmlns:a16="http://schemas.microsoft.com/office/drawing/2014/main" id="{175833F7-E08E-15C0-0ACB-95F39A89CA4C}"/>
              </a:ext>
            </a:extLst>
          </p:cNvPr>
          <p:cNvPicPr>
            <a:picLocks noChangeAspect="1"/>
          </p:cNvPicPr>
          <p:nvPr/>
        </p:nvPicPr>
        <p:blipFill>
          <a:blip r:embed="rId2"/>
          <a:stretch>
            <a:fillRect/>
          </a:stretch>
        </p:blipFill>
        <p:spPr>
          <a:xfrm>
            <a:off x="363955" y="212192"/>
            <a:ext cx="7238221" cy="4647309"/>
          </a:xfrm>
          <a:prstGeom prst="rect">
            <a:avLst/>
          </a:prstGeom>
          <a:ln>
            <a:solidFill>
              <a:srgbClr val="FF0000"/>
            </a:solidFill>
          </a:ln>
        </p:spPr>
      </p:pic>
      <p:pic>
        <p:nvPicPr>
          <p:cNvPr id="6" name="图片 5">
            <a:extLst>
              <a:ext uri="{FF2B5EF4-FFF2-40B4-BE49-F238E27FC236}">
                <a16:creationId xmlns:a16="http://schemas.microsoft.com/office/drawing/2014/main" id="{AC693FAA-16C7-5902-C01A-C5AB8A5305AC}"/>
              </a:ext>
            </a:extLst>
          </p:cNvPr>
          <p:cNvPicPr>
            <a:picLocks noChangeAspect="1"/>
          </p:cNvPicPr>
          <p:nvPr/>
        </p:nvPicPr>
        <p:blipFill>
          <a:blip r:embed="rId3"/>
          <a:stretch>
            <a:fillRect/>
          </a:stretch>
        </p:blipFill>
        <p:spPr>
          <a:xfrm>
            <a:off x="7612888" y="4872753"/>
            <a:ext cx="4554501" cy="1931030"/>
          </a:xfrm>
          <a:prstGeom prst="rect">
            <a:avLst/>
          </a:prstGeom>
          <a:ln>
            <a:solidFill>
              <a:srgbClr val="00B050"/>
            </a:solidFill>
          </a:ln>
        </p:spPr>
      </p:pic>
    </p:spTree>
    <p:extLst>
      <p:ext uri="{BB962C8B-B14F-4D97-AF65-F5344CB8AC3E}">
        <p14:creationId xmlns:p14="http://schemas.microsoft.com/office/powerpoint/2010/main" val="300645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5D2867-5AA1-0FD7-F50C-DBE8FF2D9BFA}"/>
              </a:ext>
            </a:extLst>
          </p:cNvPr>
          <p:cNvSpPr>
            <a:spLocks noGrp="1"/>
          </p:cNvSpPr>
          <p:nvPr>
            <p:ph type="title"/>
          </p:nvPr>
        </p:nvSpPr>
        <p:spPr/>
        <p:txBody>
          <a:bodyPr/>
          <a:lstStyle/>
          <a:p>
            <a:r>
              <a:rPr lang="zh-CN" altLang="en-US" dirty="0"/>
              <a:t>文献综述评分评价要点</a:t>
            </a:r>
          </a:p>
        </p:txBody>
      </p:sp>
      <p:sp>
        <p:nvSpPr>
          <p:cNvPr id="3" name="内容占位符 2">
            <a:extLst>
              <a:ext uri="{FF2B5EF4-FFF2-40B4-BE49-F238E27FC236}">
                <a16:creationId xmlns:a16="http://schemas.microsoft.com/office/drawing/2014/main" id="{D6D5A8E6-854E-D5A9-E9A6-6F5E917581B5}"/>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451BDA8B-A6A7-EA6C-BA82-AC40E54B5377}"/>
              </a:ext>
            </a:extLst>
          </p:cNvPr>
          <p:cNvPicPr>
            <a:picLocks noChangeAspect="1"/>
          </p:cNvPicPr>
          <p:nvPr/>
        </p:nvPicPr>
        <p:blipFill>
          <a:blip r:embed="rId2"/>
          <a:stretch>
            <a:fillRect/>
          </a:stretch>
        </p:blipFill>
        <p:spPr>
          <a:xfrm>
            <a:off x="1771427" y="2190686"/>
            <a:ext cx="8649145" cy="2476627"/>
          </a:xfrm>
          <a:prstGeom prst="rect">
            <a:avLst/>
          </a:prstGeom>
        </p:spPr>
      </p:pic>
    </p:spTree>
    <p:extLst>
      <p:ext uri="{BB962C8B-B14F-4D97-AF65-F5344CB8AC3E}">
        <p14:creationId xmlns:p14="http://schemas.microsoft.com/office/powerpoint/2010/main" val="355445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F568AB-849C-2270-EB56-584521716B5A}"/>
              </a:ext>
            </a:extLst>
          </p:cNvPr>
          <p:cNvSpPr>
            <a:spLocks noGrp="1"/>
          </p:cNvSpPr>
          <p:nvPr>
            <p:ph type="title"/>
          </p:nvPr>
        </p:nvSpPr>
        <p:spPr/>
        <p:txBody>
          <a:bodyPr/>
          <a:lstStyle/>
          <a:p>
            <a:r>
              <a:rPr lang="zh-CN" altLang="en-US" dirty="0"/>
              <a:t>毕业设计</a:t>
            </a:r>
            <a:r>
              <a:rPr lang="en-US" altLang="zh-CN" dirty="0"/>
              <a:t>(</a:t>
            </a:r>
            <a:r>
              <a:rPr lang="zh-CN" altLang="en-US" dirty="0"/>
              <a:t>论文</a:t>
            </a:r>
            <a:r>
              <a:rPr lang="en-US" altLang="zh-CN" dirty="0"/>
              <a:t>)</a:t>
            </a:r>
            <a:endParaRPr lang="zh-CN" altLang="en-US" dirty="0"/>
          </a:p>
        </p:txBody>
      </p:sp>
      <p:sp>
        <p:nvSpPr>
          <p:cNvPr id="3" name="内容占位符 2">
            <a:extLst>
              <a:ext uri="{FF2B5EF4-FFF2-40B4-BE49-F238E27FC236}">
                <a16:creationId xmlns:a16="http://schemas.microsoft.com/office/drawing/2014/main" id="{48CC209C-2413-1D00-55D6-3D8490ED5CE5}"/>
              </a:ext>
            </a:extLst>
          </p:cNvPr>
          <p:cNvSpPr>
            <a:spLocks noGrp="1"/>
          </p:cNvSpPr>
          <p:nvPr>
            <p:ph idx="1"/>
          </p:nvPr>
        </p:nvSpPr>
        <p:spPr>
          <a:xfrm>
            <a:off x="838200" y="1825624"/>
            <a:ext cx="10515600" cy="5032376"/>
          </a:xfrm>
        </p:spPr>
        <p:txBody>
          <a:bodyPr>
            <a:normAutofit lnSpcReduction="10000"/>
          </a:bodyPr>
          <a:lstStyle/>
          <a:p>
            <a:r>
              <a:rPr lang="zh-CN" altLang="en-US" dirty="0">
                <a:solidFill>
                  <a:srgbClr val="0070C0"/>
                </a:solidFill>
              </a:rPr>
              <a:t>毕业论文是毕业设计的文档呈现，用于向包括指导老师在内的所有人阐明自己所作毕业设计工作的细节内容。</a:t>
            </a:r>
            <a:endParaRPr lang="en-US" altLang="zh-CN" dirty="0">
              <a:solidFill>
                <a:srgbClr val="0070C0"/>
              </a:solidFill>
            </a:endParaRPr>
          </a:p>
          <a:p>
            <a:r>
              <a:rPr lang="zh-CN" altLang="en-US" dirty="0">
                <a:solidFill>
                  <a:srgbClr val="FF0000"/>
                </a:solidFill>
              </a:rPr>
              <a:t>严格</a:t>
            </a:r>
            <a:r>
              <a:rPr lang="zh-CN" altLang="en-US" dirty="0"/>
              <a:t>按照毕业论文模板进行排版！</a:t>
            </a:r>
            <a:endParaRPr lang="en-US" altLang="zh-CN" dirty="0"/>
          </a:p>
          <a:p>
            <a:r>
              <a:rPr lang="zh-CN" altLang="zh-CN" dirty="0"/>
              <a:t>理工类毕业论文字数一般要求在</a:t>
            </a:r>
            <a:r>
              <a:rPr lang="en-US" altLang="zh-CN" dirty="0">
                <a:solidFill>
                  <a:srgbClr val="FF0000"/>
                </a:solidFill>
              </a:rPr>
              <a:t>1</a:t>
            </a:r>
            <a:r>
              <a:rPr lang="zh-CN" altLang="zh-CN" dirty="0">
                <a:solidFill>
                  <a:srgbClr val="FF0000"/>
                </a:solidFill>
              </a:rPr>
              <a:t>万</a:t>
            </a:r>
            <a:r>
              <a:rPr lang="zh-CN" altLang="zh-CN" dirty="0"/>
              <a:t>字以上</a:t>
            </a:r>
            <a:r>
              <a:rPr lang="zh-CN" altLang="en-US" dirty="0"/>
              <a:t>；</a:t>
            </a:r>
            <a:endParaRPr lang="en-US" altLang="zh-CN" dirty="0"/>
          </a:p>
          <a:p>
            <a:r>
              <a:rPr lang="zh-CN" altLang="en-US" dirty="0"/>
              <a:t>关于图和表（具体格式见模板）</a:t>
            </a:r>
            <a:endParaRPr lang="en-US" altLang="zh-CN" dirty="0"/>
          </a:p>
          <a:p>
            <a:pPr lvl="1"/>
            <a:r>
              <a:rPr lang="zh-CN" altLang="en-US" dirty="0"/>
              <a:t>所有的图和表在文正中必须要有引用！</a:t>
            </a:r>
            <a:endParaRPr lang="en-US" altLang="zh-CN" dirty="0"/>
          </a:p>
          <a:p>
            <a:pPr lvl="1"/>
            <a:r>
              <a:rPr lang="zh-CN" altLang="en-US" dirty="0"/>
              <a:t>所有的图都要按章编号，都要有标题（</a:t>
            </a:r>
            <a:r>
              <a:rPr lang="zh-CN" altLang="zh-CN" dirty="0"/>
              <a:t>在图的下方</a:t>
            </a:r>
            <a:r>
              <a:rPr lang="zh-CN" altLang="en-US" dirty="0"/>
              <a:t>）</a:t>
            </a:r>
            <a:endParaRPr lang="en-US" altLang="zh-CN" dirty="0"/>
          </a:p>
          <a:p>
            <a:pPr lvl="1"/>
            <a:r>
              <a:rPr lang="zh-CN" altLang="en-US" dirty="0"/>
              <a:t>所有的表都要按章编号，都要有标题（</a:t>
            </a:r>
            <a:r>
              <a:rPr lang="zh-CN" altLang="zh-CN" dirty="0"/>
              <a:t>在</a:t>
            </a:r>
            <a:r>
              <a:rPr lang="zh-CN" altLang="en-US" dirty="0"/>
              <a:t>表</a:t>
            </a:r>
            <a:r>
              <a:rPr lang="zh-CN" altLang="zh-CN" dirty="0"/>
              <a:t>的</a:t>
            </a:r>
            <a:r>
              <a:rPr lang="zh-CN" altLang="en-US" dirty="0"/>
              <a:t>上</a:t>
            </a:r>
            <a:r>
              <a:rPr lang="zh-CN" altLang="zh-CN" dirty="0"/>
              <a:t>方</a:t>
            </a:r>
            <a:r>
              <a:rPr lang="zh-CN" altLang="en-US" dirty="0"/>
              <a:t>）</a:t>
            </a:r>
            <a:endParaRPr lang="en-US" altLang="zh-CN" dirty="0"/>
          </a:p>
          <a:p>
            <a:pPr lvl="1"/>
            <a:r>
              <a:rPr lang="zh-CN" altLang="zh-CN" dirty="0"/>
              <a:t>采用交叉引用</a:t>
            </a:r>
            <a:r>
              <a:rPr lang="en-US" altLang="zh-CN" dirty="0"/>
              <a:t>(</a:t>
            </a:r>
            <a:r>
              <a:rPr lang="zh-CN" altLang="en-US" dirty="0"/>
              <a:t>便于修改变更</a:t>
            </a:r>
            <a:r>
              <a:rPr lang="en-US" altLang="zh-CN" dirty="0"/>
              <a:t>)</a:t>
            </a:r>
          </a:p>
          <a:p>
            <a:r>
              <a:rPr lang="zh-CN" altLang="en-US" dirty="0"/>
              <a:t>关于参考文献</a:t>
            </a:r>
            <a:endParaRPr lang="en-US" altLang="zh-CN" dirty="0"/>
          </a:p>
          <a:p>
            <a:pPr lvl="1"/>
            <a:r>
              <a:rPr lang="zh-CN" altLang="en-US" dirty="0">
                <a:solidFill>
                  <a:srgbClr val="FF0000"/>
                </a:solidFill>
                <a:latin typeface="Times New Roman" panose="02020603050405020304" pitchFamily="18" charset="0"/>
                <a:cs typeface="Times New Roman" panose="02020603050405020304" pitchFamily="18" charset="0"/>
              </a:rPr>
              <a:t>所有参考文献</a:t>
            </a:r>
            <a:r>
              <a:rPr lang="zh-CN" altLang="en-US" dirty="0">
                <a:latin typeface="Times New Roman" panose="02020603050405020304" pitchFamily="18" charset="0"/>
                <a:cs typeface="Times New Roman" panose="02020603050405020304" pitchFamily="18" charset="0"/>
              </a:rPr>
              <a:t>都必须在正文中</a:t>
            </a:r>
            <a:r>
              <a:rPr lang="zh-CN" altLang="en-US" dirty="0">
                <a:solidFill>
                  <a:srgbClr val="FF0000"/>
                </a:solidFill>
                <a:latin typeface="Times New Roman" panose="02020603050405020304" pitchFamily="18" charset="0"/>
                <a:cs typeface="Times New Roman" panose="02020603050405020304" pitchFamily="18" charset="0"/>
              </a:rPr>
              <a:t>被引用！</a:t>
            </a:r>
            <a:endParaRPr lang="en-US" altLang="zh-CN" dirty="0">
              <a:solidFill>
                <a:srgbClr val="FF0000"/>
              </a:solidFill>
              <a:latin typeface="Times New Roman" panose="02020603050405020304" pitchFamily="18" charset="0"/>
              <a:cs typeface="Times New Roman" panose="02020603050405020304" pitchFamily="18" charset="0"/>
            </a:endParaRPr>
          </a:p>
          <a:p>
            <a:pPr lvl="1"/>
            <a:r>
              <a:rPr lang="zh-CN" altLang="en-US" dirty="0"/>
              <a:t>参考文献格式参考模板，必须正确！</a:t>
            </a:r>
          </a:p>
        </p:txBody>
      </p:sp>
      <p:sp>
        <p:nvSpPr>
          <p:cNvPr id="4" name="文本框 3">
            <a:extLst>
              <a:ext uri="{FF2B5EF4-FFF2-40B4-BE49-F238E27FC236}">
                <a16:creationId xmlns:a16="http://schemas.microsoft.com/office/drawing/2014/main" id="{4B013963-D349-7F44-BFBD-24AAB168AC68}"/>
              </a:ext>
            </a:extLst>
          </p:cNvPr>
          <p:cNvSpPr txBox="1"/>
          <p:nvPr/>
        </p:nvSpPr>
        <p:spPr>
          <a:xfrm>
            <a:off x="5887655" y="648183"/>
            <a:ext cx="6098605" cy="523220"/>
          </a:xfrm>
          <a:prstGeom prst="rect">
            <a:avLst/>
          </a:prstGeom>
          <a:noFill/>
          <a:ln>
            <a:solidFill>
              <a:srgbClr val="FF0000"/>
            </a:solidFill>
          </a:ln>
        </p:spPr>
        <p:txBody>
          <a:bodyPr wrap="square" rtlCol="0">
            <a:spAutoFit/>
          </a:bodyPr>
          <a:lstStyle/>
          <a:p>
            <a:r>
              <a:rPr lang="zh-CN" altLang="en-US" sz="2800" dirty="0"/>
              <a:t>毕业设计</a:t>
            </a:r>
            <a:r>
              <a:rPr lang="en-US" altLang="zh-CN" sz="2800" dirty="0"/>
              <a:t>(</a:t>
            </a:r>
            <a:r>
              <a:rPr lang="zh-CN" altLang="en-US" sz="2800" dirty="0"/>
              <a:t>论文</a:t>
            </a:r>
            <a:r>
              <a:rPr lang="en-US" altLang="zh-CN" sz="2800" dirty="0"/>
              <a:t>)</a:t>
            </a:r>
            <a:r>
              <a:rPr lang="zh-CN" altLang="en-US" sz="2800" dirty="0"/>
              <a:t>对应所有</a:t>
            </a:r>
            <a:r>
              <a:rPr lang="en-US" altLang="zh-CN" sz="2800" dirty="0"/>
              <a:t>7</a:t>
            </a:r>
            <a:r>
              <a:rPr lang="zh-CN" altLang="en-US" sz="2800" dirty="0"/>
              <a:t>个教学目标</a:t>
            </a:r>
          </a:p>
        </p:txBody>
      </p:sp>
    </p:spTree>
    <p:extLst>
      <p:ext uri="{BB962C8B-B14F-4D97-AF65-F5344CB8AC3E}">
        <p14:creationId xmlns:p14="http://schemas.microsoft.com/office/powerpoint/2010/main" val="1107966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62473C5A-EE9E-7BDD-BBCA-2AC33CEF8A77}"/>
              </a:ext>
            </a:extLst>
          </p:cNvPr>
          <p:cNvPicPr>
            <a:picLocks noChangeAspect="1"/>
          </p:cNvPicPr>
          <p:nvPr/>
        </p:nvPicPr>
        <p:blipFill>
          <a:blip r:embed="rId2"/>
          <a:srcRect r="8102"/>
          <a:stretch>
            <a:fillRect/>
          </a:stretch>
        </p:blipFill>
        <p:spPr>
          <a:xfrm>
            <a:off x="2261019" y="4347066"/>
            <a:ext cx="5637277" cy="2575476"/>
          </a:xfrm>
          <a:prstGeom prst="rect">
            <a:avLst/>
          </a:prstGeom>
        </p:spPr>
      </p:pic>
      <p:sp>
        <p:nvSpPr>
          <p:cNvPr id="2" name="标题 1">
            <a:extLst>
              <a:ext uri="{FF2B5EF4-FFF2-40B4-BE49-F238E27FC236}">
                <a16:creationId xmlns:a16="http://schemas.microsoft.com/office/drawing/2014/main" id="{FBC920A1-D8AD-1BB0-BA84-344A6356904E}"/>
              </a:ext>
            </a:extLst>
          </p:cNvPr>
          <p:cNvSpPr>
            <a:spLocks noGrp="1"/>
          </p:cNvSpPr>
          <p:nvPr>
            <p:ph type="title"/>
          </p:nvPr>
        </p:nvSpPr>
        <p:spPr/>
        <p:txBody>
          <a:bodyPr/>
          <a:lstStyle/>
          <a:p>
            <a:r>
              <a:rPr lang="zh-CN" altLang="en-US" dirty="0"/>
              <a:t>毕业设计评分评价要点</a:t>
            </a:r>
          </a:p>
        </p:txBody>
      </p:sp>
      <p:sp>
        <p:nvSpPr>
          <p:cNvPr id="3" name="内容占位符 2">
            <a:extLst>
              <a:ext uri="{FF2B5EF4-FFF2-40B4-BE49-F238E27FC236}">
                <a16:creationId xmlns:a16="http://schemas.microsoft.com/office/drawing/2014/main" id="{F97FD324-B3D1-0625-1FFF-06010DFD3AC7}"/>
              </a:ext>
            </a:extLst>
          </p:cNvPr>
          <p:cNvSpPr>
            <a:spLocks noGrp="1"/>
          </p:cNvSpPr>
          <p:nvPr>
            <p:ph idx="1"/>
          </p:nvPr>
        </p:nvSpPr>
        <p:spPr>
          <a:xfrm>
            <a:off x="838200" y="1818999"/>
            <a:ext cx="10515600" cy="4351338"/>
          </a:xfrm>
        </p:spPr>
        <p:txBody>
          <a:bodyPr/>
          <a:lstStyle/>
          <a:p>
            <a:endParaRPr lang="zh-CN" altLang="en-US" dirty="0"/>
          </a:p>
        </p:txBody>
      </p:sp>
      <p:pic>
        <p:nvPicPr>
          <p:cNvPr id="7" name="图片 6">
            <a:extLst>
              <a:ext uri="{FF2B5EF4-FFF2-40B4-BE49-F238E27FC236}">
                <a16:creationId xmlns:a16="http://schemas.microsoft.com/office/drawing/2014/main" id="{0B7F6137-0FE6-D575-C92D-F08BF6961811}"/>
              </a:ext>
            </a:extLst>
          </p:cNvPr>
          <p:cNvPicPr>
            <a:picLocks noChangeAspect="1"/>
          </p:cNvPicPr>
          <p:nvPr/>
        </p:nvPicPr>
        <p:blipFill>
          <a:blip r:embed="rId3"/>
          <a:srcRect r="8400"/>
          <a:stretch>
            <a:fillRect/>
          </a:stretch>
        </p:blipFill>
        <p:spPr>
          <a:xfrm>
            <a:off x="2255721" y="1423745"/>
            <a:ext cx="5635949" cy="3477268"/>
          </a:xfrm>
          <a:prstGeom prst="rect">
            <a:avLst/>
          </a:prstGeom>
        </p:spPr>
      </p:pic>
    </p:spTree>
    <p:extLst>
      <p:ext uri="{BB962C8B-B14F-4D97-AF65-F5344CB8AC3E}">
        <p14:creationId xmlns:p14="http://schemas.microsoft.com/office/powerpoint/2010/main" val="870783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3F865B-817F-D2D6-4FDE-45FDCCC6B762}"/>
              </a:ext>
            </a:extLst>
          </p:cNvPr>
          <p:cNvSpPr>
            <a:spLocks noGrp="1"/>
          </p:cNvSpPr>
          <p:nvPr>
            <p:ph type="title"/>
          </p:nvPr>
        </p:nvSpPr>
        <p:spPr/>
        <p:txBody>
          <a:bodyPr/>
          <a:lstStyle/>
          <a:p>
            <a:r>
              <a:rPr lang="zh-CN" altLang="en-US" dirty="0"/>
              <a:t>毕业设计过程中的红线</a:t>
            </a:r>
          </a:p>
        </p:txBody>
      </p:sp>
      <p:sp>
        <p:nvSpPr>
          <p:cNvPr id="3" name="内容占位符 2">
            <a:extLst>
              <a:ext uri="{FF2B5EF4-FFF2-40B4-BE49-F238E27FC236}">
                <a16:creationId xmlns:a16="http://schemas.microsoft.com/office/drawing/2014/main" id="{644E9E00-F491-BF32-43BB-04521563259C}"/>
              </a:ext>
            </a:extLst>
          </p:cNvPr>
          <p:cNvSpPr>
            <a:spLocks noGrp="1"/>
          </p:cNvSpPr>
          <p:nvPr>
            <p:ph idx="1"/>
          </p:nvPr>
        </p:nvSpPr>
        <p:spPr>
          <a:xfrm>
            <a:off x="838200" y="1825624"/>
            <a:ext cx="10515600" cy="4667251"/>
          </a:xfrm>
        </p:spPr>
        <p:txBody>
          <a:bodyPr>
            <a:normAutofit/>
          </a:bodyPr>
          <a:lstStyle/>
          <a:p>
            <a:r>
              <a:rPr lang="zh-CN" altLang="zh-CN" sz="2400" dirty="0">
                <a:solidFill>
                  <a:srgbClr val="FF0000"/>
                </a:solidFill>
              </a:rPr>
              <a:t>出现以下情况之一的学生，毕业设计成绩直接判定为不合格</a:t>
            </a:r>
            <a:endParaRPr lang="zh-CN" altLang="zh-CN" sz="2400" dirty="0"/>
          </a:p>
          <a:p>
            <a:pPr lvl="1"/>
            <a:r>
              <a:rPr lang="zh-CN" altLang="zh-CN" dirty="0"/>
              <a:t>提交的毕业设计材料有缺失者，包括任务书、开题报告、文献综述、文献翻译、毕业设计论文、</a:t>
            </a:r>
            <a:r>
              <a:rPr lang="zh-CN" altLang="en-US" dirty="0"/>
              <a:t>设计</a:t>
            </a:r>
            <a:r>
              <a:rPr lang="zh-CN" altLang="zh-CN" dirty="0"/>
              <a:t>实物或方案使用说明、汇报答辩材料；</a:t>
            </a:r>
            <a:endParaRPr lang="en-US" altLang="zh-CN" dirty="0"/>
          </a:p>
          <a:p>
            <a:pPr lvl="1"/>
            <a:r>
              <a:rPr lang="zh-CN" altLang="zh-CN" dirty="0"/>
              <a:t>毕业设计期间非不可抗拒因素与导师失去联系次数超过三次（含）或失去联系时间累计达两周及以上</a:t>
            </a:r>
          </a:p>
          <a:p>
            <a:pPr lvl="1"/>
            <a:r>
              <a:rPr lang="zh-CN" altLang="zh-CN" dirty="0"/>
              <a:t>触发计算机与人工智能学院《关于加强本科毕业设计（论文）工作意见》相关规则</a:t>
            </a:r>
          </a:p>
          <a:p>
            <a:pPr lvl="1"/>
            <a:r>
              <a:rPr lang="zh-CN" altLang="zh-CN" dirty="0"/>
              <a:t>毕业设计（论文）初次查重的重复率超过</a:t>
            </a:r>
            <a:r>
              <a:rPr lang="en-US" altLang="zh-CN" dirty="0"/>
              <a:t>50%</a:t>
            </a:r>
            <a:r>
              <a:rPr lang="zh-CN" altLang="zh-CN" dirty="0"/>
              <a:t>者</a:t>
            </a:r>
          </a:p>
          <a:p>
            <a:pPr lvl="1"/>
            <a:r>
              <a:rPr lang="zh-CN" altLang="zh-CN" dirty="0"/>
              <a:t>毕业设计（论文）外审不合格者</a:t>
            </a:r>
            <a:endParaRPr lang="en-US" altLang="zh-CN" dirty="0"/>
          </a:p>
          <a:p>
            <a:pPr lvl="1"/>
            <a:r>
              <a:rPr lang="zh-CN" altLang="zh-CN" dirty="0"/>
              <a:t>指导教师评价</a:t>
            </a:r>
            <a:r>
              <a:rPr lang="zh-CN" altLang="en-US" dirty="0"/>
              <a:t>或</a:t>
            </a:r>
            <a:r>
              <a:rPr lang="zh-CN" altLang="zh-CN" dirty="0"/>
              <a:t>评阅教师评价</a:t>
            </a:r>
            <a:r>
              <a:rPr lang="zh-CN" altLang="en-US" dirty="0"/>
              <a:t>低于</a:t>
            </a:r>
            <a:r>
              <a:rPr lang="en-US" altLang="zh-CN" dirty="0"/>
              <a:t>60</a:t>
            </a:r>
            <a:r>
              <a:rPr lang="zh-CN" altLang="en-US" dirty="0"/>
              <a:t>分失去毕业设计</a:t>
            </a:r>
            <a:r>
              <a:rPr lang="zh-CN" altLang="zh-CN" dirty="0"/>
              <a:t>答辩资格者</a:t>
            </a:r>
          </a:p>
          <a:p>
            <a:pPr lvl="1"/>
            <a:r>
              <a:rPr lang="zh-CN" altLang="zh-CN" dirty="0"/>
              <a:t>答辩</a:t>
            </a:r>
            <a:r>
              <a:rPr lang="zh-CN" altLang="en-US" dirty="0"/>
              <a:t>环节</a:t>
            </a:r>
            <a:r>
              <a:rPr lang="zh-CN" altLang="zh-CN" dirty="0"/>
              <a:t>不合格或</a:t>
            </a:r>
            <a:r>
              <a:rPr lang="zh-CN" altLang="en-US" dirty="0"/>
              <a:t>答辩终评成绩</a:t>
            </a:r>
            <a:r>
              <a:rPr lang="zh-CN" altLang="zh-CN" dirty="0"/>
              <a:t>低于</a:t>
            </a:r>
            <a:r>
              <a:rPr lang="en-US" altLang="zh-CN" dirty="0"/>
              <a:t>60</a:t>
            </a:r>
            <a:r>
              <a:rPr lang="zh-CN" altLang="zh-CN" dirty="0"/>
              <a:t>分者</a:t>
            </a:r>
          </a:p>
        </p:txBody>
      </p:sp>
    </p:spTree>
    <p:extLst>
      <p:ext uri="{BB962C8B-B14F-4D97-AF65-F5344CB8AC3E}">
        <p14:creationId xmlns:p14="http://schemas.microsoft.com/office/powerpoint/2010/main" val="73501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67CA3C-017A-9ABF-3921-2612DE8FAAE6}"/>
              </a:ext>
            </a:extLst>
          </p:cNvPr>
          <p:cNvSpPr>
            <a:spLocks noGrp="1"/>
          </p:cNvSpPr>
          <p:nvPr>
            <p:ph type="title"/>
          </p:nvPr>
        </p:nvSpPr>
        <p:spPr/>
        <p:txBody>
          <a:bodyPr/>
          <a:lstStyle/>
          <a:p>
            <a:r>
              <a:rPr lang="zh-CN" altLang="en-US" dirty="0"/>
              <a:t>毕设是学生为主、导师为辅的合作任务</a:t>
            </a:r>
          </a:p>
        </p:txBody>
      </p:sp>
      <p:sp>
        <p:nvSpPr>
          <p:cNvPr id="3" name="内容占位符 2">
            <a:extLst>
              <a:ext uri="{FF2B5EF4-FFF2-40B4-BE49-F238E27FC236}">
                <a16:creationId xmlns:a16="http://schemas.microsoft.com/office/drawing/2014/main" id="{3589C880-6BAD-3ADD-D3DF-170AA90BC8BA}"/>
              </a:ext>
            </a:extLst>
          </p:cNvPr>
          <p:cNvSpPr>
            <a:spLocks noGrp="1"/>
          </p:cNvSpPr>
          <p:nvPr>
            <p:ph idx="1"/>
          </p:nvPr>
        </p:nvSpPr>
        <p:spPr/>
        <p:txBody>
          <a:bodyPr/>
          <a:lstStyle/>
          <a:p>
            <a:r>
              <a:rPr lang="en-US" altLang="zh-CN" dirty="0"/>
              <a:t>1</a:t>
            </a:r>
            <a:r>
              <a:rPr lang="zh-CN" altLang="en-US" dirty="0"/>
              <a:t>、指导老师指导协助学生完成毕业设计和毕业论文等材料撰写</a:t>
            </a:r>
            <a:endParaRPr lang="en-US" altLang="zh-CN" dirty="0"/>
          </a:p>
          <a:p>
            <a:r>
              <a:rPr lang="en-US" altLang="zh-CN" dirty="0"/>
              <a:t>2</a:t>
            </a:r>
            <a:r>
              <a:rPr lang="zh-CN" altLang="en-US" dirty="0"/>
              <a:t>、学生投入时间、精力，运用专业知识和学习能力解决毕业设计过程中的任务点、难点等，并认真撰写相关文档。</a:t>
            </a:r>
            <a:endParaRPr lang="en-US" altLang="zh-CN" dirty="0"/>
          </a:p>
          <a:p>
            <a:r>
              <a:rPr lang="zh-CN" altLang="en-US" dirty="0"/>
              <a:t>两者目标一致：</a:t>
            </a:r>
            <a:r>
              <a:rPr lang="zh-CN" altLang="en-US" dirty="0">
                <a:solidFill>
                  <a:srgbClr val="FF0000"/>
                </a:solidFill>
              </a:rPr>
              <a:t>顺利、高分通过毕业设计</a:t>
            </a:r>
            <a:r>
              <a:rPr lang="zh-CN" altLang="en-US" dirty="0"/>
              <a:t>！</a:t>
            </a:r>
            <a:endParaRPr lang="en-US" altLang="zh-CN" dirty="0"/>
          </a:p>
          <a:p>
            <a:endParaRPr lang="zh-CN" altLang="en-US" dirty="0"/>
          </a:p>
        </p:txBody>
      </p:sp>
      <p:pic>
        <p:nvPicPr>
          <p:cNvPr id="5" name="图片 4">
            <a:extLst>
              <a:ext uri="{FF2B5EF4-FFF2-40B4-BE49-F238E27FC236}">
                <a16:creationId xmlns:a16="http://schemas.microsoft.com/office/drawing/2014/main" id="{12965756-97BA-644D-5CE4-7C8593A4F800}"/>
              </a:ext>
            </a:extLst>
          </p:cNvPr>
          <p:cNvPicPr>
            <a:picLocks noChangeAspect="1"/>
          </p:cNvPicPr>
          <p:nvPr/>
        </p:nvPicPr>
        <p:blipFill>
          <a:blip r:embed="rId2"/>
          <a:srcRect t="24653" b="11898"/>
          <a:stretch>
            <a:fillRect/>
          </a:stretch>
        </p:blipFill>
        <p:spPr>
          <a:xfrm>
            <a:off x="3741514" y="3630598"/>
            <a:ext cx="4708972" cy="2110133"/>
          </a:xfrm>
          <a:prstGeom prst="rect">
            <a:avLst/>
          </a:prstGeom>
        </p:spPr>
      </p:pic>
      <p:sp>
        <p:nvSpPr>
          <p:cNvPr id="4" name="文本框 3">
            <a:extLst>
              <a:ext uri="{FF2B5EF4-FFF2-40B4-BE49-F238E27FC236}">
                <a16:creationId xmlns:a16="http://schemas.microsoft.com/office/drawing/2014/main" id="{BD569961-4FD8-FD9C-172B-BF632D4D7009}"/>
              </a:ext>
            </a:extLst>
          </p:cNvPr>
          <p:cNvSpPr txBox="1"/>
          <p:nvPr/>
        </p:nvSpPr>
        <p:spPr>
          <a:xfrm>
            <a:off x="1053548" y="5871859"/>
            <a:ext cx="9919252" cy="523220"/>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zh-CN" altLang="en-US" sz="2800" dirty="0"/>
              <a:t>请指导老师们以合理方式留下对学生毕设的过程</a:t>
            </a:r>
            <a:r>
              <a:rPr lang="zh-CN" altLang="en-US" sz="2800"/>
              <a:t>指导记录</a:t>
            </a:r>
            <a:endParaRPr lang="en-US" altLang="zh-CN" sz="2800" dirty="0"/>
          </a:p>
        </p:txBody>
      </p:sp>
    </p:spTree>
    <p:extLst>
      <p:ext uri="{BB962C8B-B14F-4D97-AF65-F5344CB8AC3E}">
        <p14:creationId xmlns:p14="http://schemas.microsoft.com/office/powerpoint/2010/main" val="72495149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257</TotalTime>
  <Words>1229</Words>
  <Application>Microsoft Office PowerPoint</Application>
  <PresentationFormat>宽屏</PresentationFormat>
  <Paragraphs>91</Paragraphs>
  <Slides>17</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17</vt:i4>
      </vt:variant>
    </vt:vector>
  </HeadingPairs>
  <TitlesOfParts>
    <vt:vector size="22" baseType="lpstr">
      <vt:lpstr>等线</vt:lpstr>
      <vt:lpstr>等线 Light</vt:lpstr>
      <vt:lpstr>Arial</vt:lpstr>
      <vt:lpstr>Times New Roman</vt:lpstr>
      <vt:lpstr>Office 主题​​</vt:lpstr>
      <vt:lpstr>2026届网工 毕业设计指导说明 </vt:lpstr>
      <vt:lpstr>毕业设计的总体日程安排</vt:lpstr>
      <vt:lpstr>毕业设计教学大纲简析</vt:lpstr>
      <vt:lpstr>教学目标中的能力在哪里体现？——毕设环节中的文档及其作用说明</vt:lpstr>
      <vt:lpstr>2、开题报告</vt:lpstr>
      <vt:lpstr>开题报告评分评价要点</vt:lpstr>
      <vt:lpstr>3、文献翻译</vt:lpstr>
      <vt:lpstr>文献翻译评分评价要点</vt:lpstr>
      <vt:lpstr>4、文献综述（科研课题类）</vt:lpstr>
      <vt:lpstr>4、文献综述（工程项目类）</vt:lpstr>
      <vt:lpstr>4、文献综述</vt:lpstr>
      <vt:lpstr>PowerPoint 演示文稿</vt:lpstr>
      <vt:lpstr>文献综述评分评价要点</vt:lpstr>
      <vt:lpstr>毕业设计(论文)</vt:lpstr>
      <vt:lpstr>毕业设计评分评价要点</vt:lpstr>
      <vt:lpstr>毕业设计过程中的红线</vt:lpstr>
      <vt:lpstr>毕设是学生为主、导师为辅的合作任务</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可仲 金</dc:creator>
  <cp:lastModifiedBy>生 鱼</cp:lastModifiedBy>
  <cp:revision>63</cp:revision>
  <dcterms:created xsi:type="dcterms:W3CDTF">2025-09-25T03:44:00Z</dcterms:created>
  <dcterms:modified xsi:type="dcterms:W3CDTF">2025-11-17T02:02:11Z</dcterms:modified>
</cp:coreProperties>
</file>